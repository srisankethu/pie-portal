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14400" y="239572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914400" y="2560320"/>
            <a:ext cx="10362895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00" b="1" spc="-240">
                <a:solidFill>
                  <a:srgbClr val="0E1116"/>
                </a:solidFill>
                <a:latin typeface="IBM Plex Sans"/>
              </a:rPr>
              <a:t>PIE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3675887"/>
            <a:ext cx="103628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spc="320">
                <a:solidFill>
                  <a:srgbClr val="1B4D7A"/>
                </a:solidFill>
                <a:latin typeface="IBM Plex Sans"/>
              </a:rPr>
              <a:t>PRODUCT INTELLIGENCE ENGINE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14400" y="4315968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914400" y="4553712"/>
            <a:ext cx="78638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ERP records the transaction. PIE understands the product</a:t>
            </a:r>
          </a:p>
          <a:p>
            <a:pPr algn="l">
              <a:lnSpc>
                <a:spcPct val="132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and decides what should happen.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50468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DETERMINISTIC PRODUCT INTELLIGENCE FOR B2B INDUSTRIAL DISTRIBUTION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2084831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DRAWING TITLE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6775" y="6153912"/>
            <a:ext cx="475488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7359" y="6153912"/>
            <a:ext cx="13075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255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8726119" y="6153912"/>
            <a:ext cx="162763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HYDERABAD, INDIA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45433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10454335" y="6153912"/>
            <a:ext cx="1417320" cy="38404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36631" y="6208776"/>
            <a:ext cx="125272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[STAGE]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 quote begins as a sentence, not a part number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874519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13337"/>
                </a:solidFill>
                <a:latin typeface="IBM Plex Sans"/>
              </a:rPr>
              <a:t>The request arrives unstructured. Everything after it is manual.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761488"/>
            <a:ext cx="10362895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RFQ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14255" y="2450592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90">
                <a:solidFill>
                  <a:srgbClr val="1B4D7A"/>
                </a:solidFill>
                <a:latin typeface="IBM Plex Mono"/>
              </a:rPr>
              <a:t>QUOTE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417320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261872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61872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1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88731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Oval 57"/>
          <p:cNvSpPr/>
          <p:nvPr/>
        </p:nvSpPr>
        <p:spPr>
          <a:xfrm>
            <a:off x="3133283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33283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2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160142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Oval 60"/>
          <p:cNvSpPr/>
          <p:nvPr/>
        </p:nvSpPr>
        <p:spPr>
          <a:xfrm>
            <a:off x="5004694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04694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3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031553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Oval 63"/>
          <p:cNvSpPr/>
          <p:nvPr/>
        </p:nvSpPr>
        <p:spPr>
          <a:xfrm>
            <a:off x="6876105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76105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4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902964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Oval 66"/>
          <p:cNvSpPr/>
          <p:nvPr/>
        </p:nvSpPr>
        <p:spPr>
          <a:xfrm>
            <a:off x="8747516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47516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0774375" y="2916936"/>
            <a:ext cx="0" cy="155448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Oval 69"/>
          <p:cNvSpPr/>
          <p:nvPr/>
        </p:nvSpPr>
        <p:spPr>
          <a:xfrm>
            <a:off x="10618927" y="2606040"/>
            <a:ext cx="310896" cy="310896"/>
          </a:xfrm>
          <a:prstGeom prst="ellipse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18927" y="260604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331012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FRICTION POINTS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3529584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98448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RFQ arrives — WhatsApp, email, PDF, photo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4400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98448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Code decoded by hand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4400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98448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Item master searched — 15,028 items, name is not identity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5847" y="3689604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9895" y="3625596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No grade field — expert memory fills it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5847" y="4091939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79895" y="4027932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Cost and stock in another screen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95847" y="4494276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1B4D7A"/>
                </a:solidFill>
                <a:latin typeface="IBM Plex Mono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79895" y="4430268"/>
            <a:ext cx="44956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Price set from memory or last invoice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4956048"/>
            <a:ext cx="2514600" cy="40233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6696" y="5010912"/>
            <a:ext cx="23500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ELAPSED: [TO VALIDATE]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ERP records transactions. It does not understand products.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95847" y="1929384"/>
            <a:ext cx="0" cy="280720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ERP KNOWS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9232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1207008" y="245973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SKU string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14400" y="2976372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1207008" y="2843784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stock on hand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14400" y="3360420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7" name="TextBox 56"/>
          <p:cNvSpPr txBox="1"/>
          <p:nvPr/>
        </p:nvSpPr>
        <p:spPr>
          <a:xfrm>
            <a:off x="1207008" y="3227832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cost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744468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1207008" y="3611880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last selling price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914400" y="4128515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207008" y="3995928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customer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914400" y="4512564"/>
            <a:ext cx="182880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1207008" y="4379976"/>
            <a:ext cx="45413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13337"/>
                </a:solidFill>
                <a:latin typeface="IBM Plex Sans"/>
              </a:rPr>
              <a:t>tax 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79895" y="203911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WHAT A QUOTE NEEDS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479895" y="2601468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6" name="TextBox 65"/>
          <p:cNvSpPr txBox="1"/>
          <p:nvPr/>
        </p:nvSpPr>
        <p:spPr>
          <a:xfrm>
            <a:off x="6772503" y="2459736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what the product physically is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479895" y="3076956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6772503" y="2935224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another product substitutes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79895" y="3552444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6772503" y="3410712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price holds margin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479895" y="4027932"/>
            <a:ext cx="182880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sp>
        <p:nvSpPr>
          <p:cNvPr id="72" name="TextBox 71"/>
          <p:cNvSpPr txBox="1"/>
          <p:nvPr/>
        </p:nvSpPr>
        <p:spPr>
          <a:xfrm>
            <a:off x="6772503" y="3886200"/>
            <a:ext cx="440420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B4D7A"/>
                </a:solidFill>
                <a:latin typeface="IBM Plex Sans"/>
              </a:rPr>
              <a:t>whether this customer justifies it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914400" y="495604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914400" y="510235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Measured on this item master: 1.4% of item names carry a recognisable grade token.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Grade is the attribute the decision runs 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1417320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SHEET 04 — THE INSIGHT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1700784"/>
            <a:ext cx="10362895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267712"/>
            <a:ext cx="8321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</a:pPr>
            <a:r>
              <a:rPr sz="3000" b="0" spc="-35">
                <a:solidFill>
                  <a:srgbClr val="0E1116"/>
                </a:solidFill>
                <a:latin typeface="IBM Plex Sans"/>
              </a:rPr>
              <a:t>The bottleneck is not recording the order. It is turning an unstructured request into a technically correct, commercially actionable quote — and that step lives in one person's 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05/14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pipeline, ten stages, one legend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615184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2907792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971800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Parse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08576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6" name="Rectangle 55"/>
          <p:cNvSpPr/>
          <p:nvPr/>
        </p:nvSpPr>
        <p:spPr>
          <a:xfrm>
            <a:off x="4901184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65192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Classify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6601968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9" name="Rectangle 58"/>
          <p:cNvSpPr/>
          <p:nvPr/>
        </p:nvSpPr>
        <p:spPr>
          <a:xfrm>
            <a:off x="6894576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58584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Normalize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595360" y="2505456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2" name="Rectangle 61"/>
          <p:cNvSpPr/>
          <p:nvPr/>
        </p:nvSpPr>
        <p:spPr>
          <a:xfrm>
            <a:off x="8887968" y="2148839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1976" y="2194559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Exact match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Equivalents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615184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2907792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71800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Cost &amp;</a:t>
            </a:r>
          </a:p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availability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608576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4901184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65192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601968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6894576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58584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Recommendation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95360" y="3986783"/>
            <a:ext cx="29260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6" name="Rectangle 75"/>
          <p:cNvSpPr/>
          <p:nvPr/>
        </p:nvSpPr>
        <p:spPr>
          <a:xfrm>
            <a:off x="8887968" y="3630168"/>
            <a:ext cx="1700784" cy="713232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951976" y="3675887"/>
            <a:ext cx="1572768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588752" y="2505456"/>
            <a:ext cx="962863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11551615" y="2505456"/>
            <a:ext cx="0" cy="740664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H="1">
            <a:off x="640080" y="3246120"/>
            <a:ext cx="10911535" cy="0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640080" y="3246120"/>
            <a:ext cx="0" cy="740663"/>
          </a:xfrm>
          <a:prstGeom prst="line">
            <a:avLst/>
          </a:prstGeom>
          <a:ln w="9525">
            <a:solidFill>
              <a:srgbClr val="1B4D7A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640080" y="3986783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3" name="Rectangle 82"/>
          <p:cNvSpPr/>
          <p:nvPr/>
        </p:nvSpPr>
        <p:spPr>
          <a:xfrm>
            <a:off x="914400" y="5047488"/>
            <a:ext cx="2487168" cy="566928"/>
          </a:xfrm>
          <a:prstGeom prst="rect">
            <a:avLst/>
          </a:prstGeom>
          <a:noFill/>
          <a:ln w="635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1042416" y="5239512"/>
            <a:ext cx="347472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1481328" y="516635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42416" y="5440679"/>
            <a:ext cx="347472" cy="0"/>
          </a:xfrm>
          <a:prstGeom prst="line">
            <a:avLst/>
          </a:prstGeom>
          <a:ln w="13970">
            <a:solidFill>
              <a:srgbClr val="1B4D7A"/>
            </a:solidFill>
            <a:prstDash val="dash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1481328" y="53675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AI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703320" y="5047488"/>
            <a:ext cx="6309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Eight of the ten stages are deterministic. Only intake and explanation are dashed. Every emitted field carries provenance, confidence, and a character span.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06/14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Same request in. Same quote out. Six steps removed.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RFQ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90911" y="2240279"/>
            <a:ext cx="786384" cy="2450592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54919" y="2285999"/>
            <a:ext cx="658368" cy="23591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1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75103" y="19659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TODAY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975103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039111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050569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3169441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33449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Decode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by hand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244906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4363778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27786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Search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master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39243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5558115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2123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Check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633580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6752452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16460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Look up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cost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827917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7946789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797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Price from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memory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022254" y="2651760"/>
            <a:ext cx="118872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9141126" y="2258568"/>
            <a:ext cx="1075465" cy="786384"/>
          </a:xfrm>
          <a:prstGeom prst="rect">
            <a:avLst/>
          </a:prstGeom>
          <a:noFill/>
          <a:ln w="9525">
            <a:solidFill>
              <a:srgbClr val="31333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205134" y="2304287"/>
            <a:ext cx="947449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Type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700784" y="2651760"/>
            <a:ext cx="274319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10216591" y="2651760"/>
            <a:ext cx="274320" cy="0"/>
          </a:xfrm>
          <a:prstGeom prst="line">
            <a:avLst/>
          </a:prstGeom>
          <a:ln w="9525">
            <a:solidFill>
              <a:srgbClr val="313337"/>
            </a:solidFill>
            <a:tailEnd type="triangle" w="med" len="med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1975103" y="3611879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WITH PIE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9751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0391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Paste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026663" y="4297679"/>
            <a:ext cx="20116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1" name="Rectangle 80"/>
          <p:cNvSpPr/>
          <p:nvPr/>
        </p:nvSpPr>
        <p:spPr>
          <a:xfrm>
            <a:off x="3227831" y="3904487"/>
            <a:ext cx="4483303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91839" y="3950207"/>
            <a:ext cx="4355287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Resolved lines, ranked alternatives,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stock, cost, recommended price, margin flag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711135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7912303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976311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Review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8963863" y="4297679"/>
            <a:ext cx="20116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7" name="Rectangle 86"/>
          <p:cNvSpPr/>
          <p:nvPr/>
        </p:nvSpPr>
        <p:spPr>
          <a:xfrm>
            <a:off x="9165031" y="3904487"/>
            <a:ext cx="1051560" cy="78638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29039" y="3950207"/>
            <a:ext cx="923543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Send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700784" y="4297679"/>
            <a:ext cx="274319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10216591" y="4297679"/>
            <a:ext cx="274320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914400" y="513892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The human still approves every line. PIE removes the lookup, not the judgement.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14400" y="5577840"/>
            <a:ext cx="4343400" cy="365760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6696" y="5632703"/>
            <a:ext cx="417880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[TO VALIDATE] MINUTES SAVED PER 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07/14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One line, end to end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728216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LIVE ENGINE OUTPUT · PACK KENNAMETAL_WIDIA V0.10.0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2020824"/>
            <a:ext cx="52806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spc="0">
                <a:solidFill>
                  <a:srgbClr val="0E1116"/>
                </a:solidFill>
                <a:latin typeface="IBM Plex Mono"/>
              </a:rPr>
              <a:t>CNMG 120408-49 - TN2000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14400" y="2551176"/>
            <a:ext cx="2057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01727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1017270" y="2880360"/>
            <a:ext cx="472846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TextBox 54"/>
          <p:cNvSpPr txBox="1"/>
          <p:nvPr/>
        </p:nvSpPr>
        <p:spPr>
          <a:xfrm>
            <a:off x="960120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rhombic 80°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120140" y="2551176"/>
            <a:ext cx="20574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122301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1223010" y="2880360"/>
            <a:ext cx="1418539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2111552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clearance 0°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negative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325880" y="2551176"/>
            <a:ext cx="20573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42875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1428750" y="2880360"/>
            <a:ext cx="2364232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3" name="TextBox 62"/>
          <p:cNvSpPr txBox="1"/>
          <p:nvPr/>
        </p:nvSpPr>
        <p:spPr>
          <a:xfrm>
            <a:off x="3262985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tolerance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class M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531619" y="2551176"/>
            <a:ext cx="20574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1634489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1634489" y="2880360"/>
            <a:ext cx="3309925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4414418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fixing type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43100" y="2551176"/>
            <a:ext cx="41147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148839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148839" y="2880360"/>
            <a:ext cx="3947008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5565851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edge length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12 mm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54579" y="2551176"/>
            <a:ext cx="411481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56032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560320" y="2880360"/>
            <a:ext cx="4686960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717284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thickness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4.76 mm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766060" y="2551176"/>
            <a:ext cx="411479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97180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971800" y="2880360"/>
            <a:ext cx="5426913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7868716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corner radius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0.8 mm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383279" y="2551176"/>
            <a:ext cx="411480" cy="0"/>
          </a:xfrm>
          <a:prstGeom prst="line">
            <a:avLst/>
          </a:prstGeom>
          <a:ln w="13970">
            <a:solidFill>
              <a:srgbClr val="1B4D7A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58902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3589020" y="2880360"/>
            <a:ext cx="5961126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9020149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chipbreaker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29200" y="2569464"/>
            <a:ext cx="0" cy="3108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5029200" y="2880360"/>
            <a:ext cx="5672378" cy="26517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0171582" y="3191256"/>
            <a:ext cx="10599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grade — column</a:t>
            </a:r>
          </a:p>
          <a:p>
            <a:pPr algn="ctr">
              <a:lnSpc>
                <a:spcPct val="116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WIDIA legacy 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14400" y="4224528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914400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8408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Identity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MM# 2001174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880360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1" name="Rectangle 90"/>
          <p:cNvSpPr/>
          <p:nvPr/>
        </p:nvSpPr>
        <p:spPr>
          <a:xfrm>
            <a:off x="3264408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328415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Zoho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stock · landed cost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230368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4" name="Rectangle 93"/>
          <p:cNvSpPr/>
          <p:nvPr/>
        </p:nvSpPr>
        <p:spPr>
          <a:xfrm>
            <a:off x="5614416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78424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recommended · floor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7580375" y="4791456"/>
            <a:ext cx="384048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97" name="Rectangle 96"/>
          <p:cNvSpPr/>
          <p:nvPr/>
        </p:nvSpPr>
        <p:spPr>
          <a:xfrm>
            <a:off x="7964423" y="4462272"/>
            <a:ext cx="1965960" cy="65836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028431" y="4507992"/>
            <a:ext cx="18379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1">
                <a:solidFill>
                  <a:srgbClr val="1B4D7A"/>
                </a:solidFill>
                <a:latin typeface="IBM Plex Mono"/>
              </a:rPr>
              <a:t>EXACT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14400" y="5504688"/>
            <a:ext cx="85953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eight character spans are the engine's own output.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08/14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Correctness is deterministic.</a:t>
            </a:r>
          </a:p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Ambiguity is where AI earns its place.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NL RFQ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intake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1843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5851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Conversation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69286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33294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Explanation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96729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60737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Exploration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24172" y="2350008"/>
            <a:ext cx="1853123" cy="676656"/>
          </a:xfrm>
          <a:prstGeom prst="rect">
            <a:avLst/>
          </a:prstGeom>
          <a:noFill/>
          <a:ln w="9525">
            <a:solidFill>
              <a:srgbClr val="1B4D7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88180" y="2395727"/>
            <a:ext cx="1725107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Agent</a:t>
            </a:r>
          </a:p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configuration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207568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AI LAYER — OPTIONAL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095847" y="3026663"/>
            <a:ext cx="0" cy="621793"/>
          </a:xfrm>
          <a:prstGeom prst="line">
            <a:avLst/>
          </a:prstGeom>
          <a:ln w="9525">
            <a:solidFill>
              <a:srgbClr val="1B4D7A"/>
            </a:solidFill>
            <a:prstDash val="dash"/>
            <a:tailEnd type="triangle" w="med" len="med"/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05575" y="3191256"/>
            <a:ext cx="1097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READS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840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Parsing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41832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48233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Classification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92225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8626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Attributes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2618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9018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Equivalence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930106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94114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4033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98041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Margin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937960" y="3648456"/>
            <a:ext cx="1339334" cy="603504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001968" y="3694176"/>
            <a:ext cx="121131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374136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1B4D7A"/>
                </a:solidFill>
                <a:latin typeface="IBM Plex Mono"/>
              </a:rPr>
              <a:t>DETERMINISTIC ENGINE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8408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Leakage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668981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32989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Cost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Change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23562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487570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Risk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8143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42151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Price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Increase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32724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96732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Dead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Stock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687306" y="4672583"/>
            <a:ext cx="1589989" cy="457200"/>
          </a:xfrm>
          <a:prstGeom prst="rect">
            <a:avLst/>
          </a:prstGeom>
          <a:noFill/>
          <a:ln w="6350">
            <a:solidFill>
              <a:srgbClr val="2E8FB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751314" y="4718303"/>
            <a:ext cx="1461973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Equivalent</a:t>
            </a:r>
          </a:p>
          <a:p>
            <a:pPr algn="ctr">
              <a:lnSpc>
                <a:spcPct val="112000"/>
              </a:lnSpc>
            </a:pPr>
            <a:r>
              <a:rPr sz="700" b="0">
                <a:solidFill>
                  <a:srgbClr val="313337"/>
                </a:solidFill>
                <a:latin typeface="IBM Plex Mono"/>
              </a:rPr>
              <a:t>Opportunity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434840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DETERMINISTIC WATCHERS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358384"/>
            <a:ext cx="96926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never computes a number. Every figure it states must trace to a supplied fact or the response is rejected and the deterministic reading is shown.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AI ships off by default — the engine underneath is the valuable half.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09/14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engine is manufacturer-agnostic by construction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203703"/>
            <a:ext cx="2788920" cy="338328"/>
          </a:xfrm>
          <a:prstGeom prst="rect">
            <a:avLst/>
          </a:prstGeom>
          <a:noFill/>
          <a:ln w="1778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2249423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1B4D7A"/>
                </a:solidFill>
                <a:latin typeface="IBM Plex Mono"/>
              </a:rPr>
              <a:t>Cutting 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2624327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8408" y="2670047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Bearings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08860" y="2542032"/>
            <a:ext cx="0" cy="82295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914400" y="3044951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8408" y="3090671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Electrical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308860" y="2962656"/>
            <a:ext cx="0" cy="82295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914400" y="3465576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8408" y="3511296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MRO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8860" y="3383280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914400" y="3886200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8408" y="3931920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Automation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2308860" y="3803904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914400" y="4306824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8408" y="4352544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Fasteners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2308860" y="4224528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14400" y="4727448"/>
            <a:ext cx="2788920" cy="338328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" y="4773168"/>
            <a:ext cx="2660903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50" b="0">
                <a:solidFill>
                  <a:srgbClr val="313337"/>
                </a:solidFill>
                <a:latin typeface="IBM Plex Mono"/>
              </a:rPr>
              <a:t>Industrial consumables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308860" y="4645152"/>
            <a:ext cx="0" cy="82296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914400" y="1965960"/>
            <a:ext cx="29260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CATEGORY LADDER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06240" y="2203703"/>
            <a:ext cx="2834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same convergence recurs: many technical SKUs, constant quoting, margin pressure.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New manufacturer, unchanged engine. New category also needs a standards decoder.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60920" y="1929384"/>
            <a:ext cx="391637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SIZED OPPORTUNITY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360920" y="2148839"/>
            <a:ext cx="3916375" cy="31272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25512" y="2313432"/>
            <a:ext cx="358719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TAM  =  A × B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SAM  =  TAM × C</a:t>
            </a:r>
          </a:p>
          <a:p>
            <a:pPr algn="l">
              <a:lnSpc>
                <a:spcPct val="142000"/>
              </a:lnSpc>
            </a:pPr>
            <a:r>
              <a:rPr sz="1100" b="0">
                <a:solidFill>
                  <a:srgbClr val="1B4D7A"/>
                </a:solidFill>
                <a:latin typeface="IBM Plex Mono"/>
              </a:rPr>
              <a:t>SOM  =  SAM × 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525512" y="3264408"/>
            <a:ext cx="3587191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7525512" y="34290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36408" y="3392424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18704" y="3447288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3433572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25512" y="385876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836408" y="3822191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918704" y="3877055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863339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annual spend each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25512" y="428853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C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36408" y="4251960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918704" y="4306824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293108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connected-ERP share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25512" y="47183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4D7A"/>
                </a:solidFill>
                <a:latin typeface="IBM Plex Mono"/>
              </a:rPr>
              <a:t>D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836408" y="4681728"/>
            <a:ext cx="1353312" cy="310896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918704" y="473659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81160" y="4722876"/>
            <a:ext cx="1831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reachable in three years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10/14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layer between describing a product and quoting it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207568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97280" y="207568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ERP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60520" y="207568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records the transaction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257403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97280" y="257403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60520" y="257403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describes the product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88720" y="3072384"/>
            <a:ext cx="9814255" cy="448056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600" y="3072384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50">
                <a:solidFill>
                  <a:srgbClr val="1B4D7A"/>
                </a:solidFill>
                <a:latin typeface="IBM Plex Mono"/>
              </a:rPr>
              <a:t>PIE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4840" y="3072384"/>
            <a:ext cx="638525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B4D7A"/>
                </a:solidFill>
                <a:latin typeface="IBM Plex Sans"/>
              </a:rPr>
              <a:t>understands it and recommends the decision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3570732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97280" y="3570732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CPQ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60520" y="3570732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configures and issues the quote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4069080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97280" y="4069080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PRICING PLATFORMS (PRICEFX)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60520" y="4069080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optimise price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4567428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4567428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AI COPILOTS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4567428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converse about it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065776"/>
            <a:ext cx="10362895" cy="448056"/>
          </a:xfrm>
          <a:prstGeom prst="rect">
            <a:avLst/>
          </a:prstGeom>
          <a:noFill/>
          <a:ln w="7620">
            <a:solidFill>
              <a:srgbClr val="A8A69E"/>
            </a:solidFill>
            <a:prstDash val="sys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97280" y="5065776"/>
            <a:ext cx="29260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spc="50">
                <a:solidFill>
                  <a:srgbClr val="313337"/>
                </a:solidFill>
                <a:latin typeface="IBM Plex Mono"/>
              </a:rPr>
              <a:t>SPREADSHEETS + MEMORY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60520" y="5065776"/>
            <a:ext cx="6933895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13337"/>
                </a:solidFill>
                <a:latin typeface="IBM Plex Sans"/>
              </a:rPr>
              <a:t>the actual incumbent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14400" y="57058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spc="90">
                <a:solidFill>
                  <a:srgbClr val="C8892A"/>
                </a:solidFill>
                <a:latin typeface="IBM Plex Mono"/>
              </a:rPr>
              <a:t>REPLACES NOTHING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60520" y="5650992"/>
            <a:ext cx="6400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It supplies the layer none of them owns.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71055" y="1783079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spc="90">
                <a:solidFill>
                  <a:srgbClr val="A8A69E"/>
                </a:solidFill>
                <a:latin typeface="IBM Plex Mono"/>
              </a:rPr>
              <a:t>DASHED HERE = INFORMAL, NOT 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11/14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asset is the decoded nomenclature, and it only accumulates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2245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8408" y="42702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Manufacturer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naming grammars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13101" y="39502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77109" y="39959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Normalisation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2285085" y="42336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3911803" y="367588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75811" y="372160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Sourced pairwise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equivalence claims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783787" y="395935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58" name="Rectangle 57"/>
          <p:cNvSpPr/>
          <p:nvPr/>
        </p:nvSpPr>
        <p:spPr>
          <a:xfrm>
            <a:off x="5410504" y="340156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74512" y="344728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Distributor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commercial data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5282488" y="368503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1" name="Rectangle 60"/>
          <p:cNvSpPr/>
          <p:nvPr/>
        </p:nvSpPr>
        <p:spPr>
          <a:xfrm>
            <a:off x="6909206" y="312724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73214" y="317296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Quote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outcomes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6781190" y="3410712"/>
            <a:ext cx="128016" cy="274319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4" name="Rectangle 63"/>
          <p:cNvSpPr/>
          <p:nvPr/>
        </p:nvSpPr>
        <p:spPr>
          <a:xfrm>
            <a:off x="8407908" y="285292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71916" y="289864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Pricing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policy</a:t>
            </a:r>
          </a:p>
        </p:txBody>
      </p:sp>
      <p:cxnSp>
        <p:nvCxnSpPr>
          <p:cNvPr id="66" name="Connector 65"/>
          <p:cNvCxnSpPr/>
          <p:nvPr/>
        </p:nvCxnSpPr>
        <p:spPr>
          <a:xfrm flipV="1">
            <a:off x="8279892" y="313639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67" name="Rectangle 66"/>
          <p:cNvSpPr/>
          <p:nvPr/>
        </p:nvSpPr>
        <p:spPr>
          <a:xfrm>
            <a:off x="9906609" y="2578608"/>
            <a:ext cx="1370685" cy="56692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970617" y="2624328"/>
            <a:ext cx="124266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Workflow</a:t>
            </a:r>
          </a:p>
          <a:p>
            <a:pPr algn="ctr">
              <a:lnSpc>
                <a:spcPct val="112000"/>
              </a:lnSpc>
            </a:pPr>
            <a:r>
              <a:rPr sz="750" b="0">
                <a:solidFill>
                  <a:srgbClr val="313337"/>
                </a:solidFill>
                <a:latin typeface="IBM Plex Mono"/>
              </a:rPr>
              <a:t>position</a:t>
            </a:r>
          </a:p>
        </p:txBody>
      </p:sp>
      <p:cxnSp>
        <p:nvCxnSpPr>
          <p:cNvPr id="69" name="Connector 68"/>
          <p:cNvCxnSpPr/>
          <p:nvPr/>
        </p:nvCxnSpPr>
        <p:spPr>
          <a:xfrm flipV="1">
            <a:off x="9778593" y="2862072"/>
            <a:ext cx="128016" cy="27432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914400" y="5065776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914400" y="5157216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spc="90">
                <a:solidFill>
                  <a:srgbClr val="A8A69E"/>
                </a:solidFill>
                <a:latin typeface="IBM Plex Mono"/>
              </a:rPr>
              <a:t>COMPOUNDS WITH EVERY PACK, EVERY QUOTE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358384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Each manufacturer's code system is reverse-engineered once into a versioned pack: 11 families, 6,717 rows, all at 100%.</a:t>
            </a:r>
          </a:p>
          <a:p>
            <a:pPr algn="l">
              <a:lnSpc>
                <a:spcPct val="128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That structure is published nowhere — not a data-scale claim, but a specific artefact that took specification work to build.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12/14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Land on the quote desk. Expand into the commercial decision.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38527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WHO — THE SCREEN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High SKU count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8981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732989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Technically complex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23562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87570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Quote volume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8143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42151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Margin-sensitive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32724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96732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Hours lost searching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687306" y="2157983"/>
            <a:ext cx="1589989" cy="384048"/>
          </a:xfrm>
          <a:prstGeom prst="rect">
            <a:avLst/>
          </a:prstGeom>
          <a:noFill/>
          <a:ln w="9525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751314" y="2203703"/>
            <a:ext cx="1461973" cy="2926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Connector ERP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2633472"/>
            <a:ext cx="1036289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The pain is the convergence, not one signal.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" y="3072384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HOW IT LANDS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3291839"/>
            <a:ext cx="103628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13337"/>
                </a:solidFill>
                <a:latin typeface="IBM Plex Sans"/>
              </a:rPr>
              <a:t>Founder-led. Owner or sales head, triggered by a price increase or a departing expert.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3749039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HOW IT GROWS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3968496"/>
            <a:ext cx="1529029" cy="512064"/>
          </a:xfrm>
          <a:prstGeom prst="rect">
            <a:avLst/>
          </a:prstGeom>
          <a:noFill/>
          <a:ln w="1905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1B4D7A"/>
                </a:solidFill>
                <a:latin typeface="IBM Plex Mono"/>
              </a:rPr>
              <a:t>Quote Desk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443429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0" name="Rectangle 69"/>
          <p:cNvSpPr/>
          <p:nvPr/>
        </p:nvSpPr>
        <p:spPr>
          <a:xfrm>
            <a:off x="2681173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5181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Product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Intelligence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210202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3" name="Rectangle 72"/>
          <p:cNvSpPr/>
          <p:nvPr/>
        </p:nvSpPr>
        <p:spPr>
          <a:xfrm>
            <a:off x="4447946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11954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Pricing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5976975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6" name="Rectangle 75"/>
          <p:cNvSpPr/>
          <p:nvPr/>
        </p:nvSpPr>
        <p:spPr>
          <a:xfrm>
            <a:off x="6214719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78727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Margin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Management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743748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79" name="Rectangle 78"/>
          <p:cNvSpPr/>
          <p:nvPr/>
        </p:nvSpPr>
        <p:spPr>
          <a:xfrm>
            <a:off x="7981492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5500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Agents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9510521" y="4224527"/>
            <a:ext cx="237744" cy="0"/>
          </a:xfrm>
          <a:prstGeom prst="line">
            <a:avLst/>
          </a:prstGeom>
          <a:ln w="9525">
            <a:solidFill>
              <a:srgbClr val="1B4D7A"/>
            </a:solidFill>
            <a:tailEnd type="triangle" w="med" len="med"/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9748266" y="3968496"/>
            <a:ext cx="1529029" cy="512064"/>
          </a:xfrm>
          <a:prstGeom prst="rect">
            <a:avLst/>
          </a:prstGeom>
          <a:noFill/>
          <a:ln w="7620">
            <a:solidFill>
              <a:srgbClr val="1B4D7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12274" y="4014215"/>
            <a:ext cx="1401013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Commercial</a:t>
            </a:r>
          </a:p>
          <a:p>
            <a:pPr algn="ctr">
              <a:lnSpc>
                <a:spcPct val="112000"/>
              </a:lnSpc>
            </a:pPr>
            <a:r>
              <a:rPr sz="800" b="0">
                <a:solidFill>
                  <a:srgbClr val="313337"/>
                </a:solidFill>
                <a:latin typeface="IBM Plex Mono"/>
              </a:rPr>
              <a:t>Intelligence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457200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Rung one ships free; the paid tier is built, unsold.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5010912"/>
            <a:ext cx="4572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spc="90">
                <a:solidFill>
                  <a:srgbClr val="A8A69E"/>
                </a:solidFill>
                <a:latin typeface="IBM Plex Mono"/>
              </a:rPr>
              <a:t>PRICING MODEL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914400" y="5212080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914400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Platform subscription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14400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6696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573703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Quote-desk seats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573703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55999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33007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SKU intelligence volume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33007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15303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92311" y="5321808"/>
            <a:ext cx="23849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313337"/>
                </a:solidFill>
                <a:latin typeface="IBM Plex Sans"/>
              </a:rPr>
              <a:t>Premium modules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892311" y="5614416"/>
            <a:ext cx="1353312" cy="29260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74607" y="5669280"/>
            <a:ext cx="118872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60">
                <a:solidFill>
                  <a:srgbClr val="C8892A"/>
                </a:solidFill>
                <a:latin typeface="IBM Plex Mono"/>
              </a:rPr>
              <a:t>[ASSUMPTION]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13/14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Current Stage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BUILT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14400" y="2221991"/>
            <a:ext cx="2357551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914400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Parser — 11 families,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6,717 rows, 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3118104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Platform — 2,895 tests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7 ERP connectors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417880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Role-gated economics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82847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IN PROGRESS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582847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3582847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Second manufacturer pack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82847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Outcome Tracker beyond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four detectors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1295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1B4D7A"/>
                </a:solidFill>
                <a:latin typeface="IBM Plex Mono"/>
              </a:rPr>
              <a:t>VALIDATED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251295" y="2221991"/>
            <a:ext cx="2357552" cy="0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6251295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Live Zoho data · three entities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51295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Coverage: 21.6% of 15,028</a:t>
            </a:r>
          </a:p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items; 42.5% stocked Kennametal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51295" y="364845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313337"/>
                </a:solidFill>
                <a:latin typeface="IBM Plex Sans"/>
              </a:rPr>
              <a:t>Determinism byte-verified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91727" y="1837943"/>
            <a:ext cx="2613583" cy="2944368"/>
          </a:xfrm>
          <a:prstGeom prst="rect">
            <a:avLst/>
          </a:prstGeom>
          <a:noFill/>
          <a:ln w="9525">
            <a:solidFill>
              <a:srgbClr val="C8892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919743" y="1965960"/>
            <a:ext cx="2357551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C8892A"/>
                </a:solidFill>
                <a:latin typeface="IBM Plex Mono"/>
              </a:rPr>
              <a:t>UNVALIDATED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919743" y="2221991"/>
            <a:ext cx="2357552" cy="0"/>
          </a:xfrm>
          <a:prstGeom prst="line">
            <a:avLst/>
          </a:prstGeom>
          <a:ln w="9525">
            <a:solidFill>
              <a:srgbClr val="C8892A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8919743" y="2368296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Willingness to pay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19743" y="2898648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Time saved per quote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9743" y="3429000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Margin impact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19743" y="3959352"/>
            <a:ext cx="235755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C8892A"/>
                </a:solidFill>
                <a:latin typeface="IBM Plex Sans"/>
              </a:rPr>
              <a:t>External customer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914400" y="5102352"/>
            <a:ext cx="10362895" cy="0"/>
          </a:xfrm>
          <a:prstGeom prst="line">
            <a:avLst/>
          </a:prstGeom>
          <a:ln w="6350">
            <a:solidFill>
              <a:srgbClr val="A8A69E"/>
            </a:solidFill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914400" y="5212080"/>
            <a:ext cx="1036289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spc="90">
                <a:solidFill>
                  <a:srgbClr val="A8A69E"/>
                </a:solidFill>
                <a:latin typeface="IBM Plex Mono"/>
              </a:rPr>
              <a:t>NO REVENUE · NO PARTNERS · NO PIPELINE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" name="Connector 2"/>
          <p:cNvCxnSpPr/>
          <p:nvPr/>
        </p:nvCxnSpPr>
        <p:spPr>
          <a:xfrm>
            <a:off x="914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1371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5" name="Connector 4"/>
          <p:cNvCxnSpPr/>
          <p:nvPr/>
        </p:nvCxnSpPr>
        <p:spPr>
          <a:xfrm>
            <a:off x="1828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6" name="Connector 5"/>
          <p:cNvCxnSpPr/>
          <p:nvPr/>
        </p:nvCxnSpPr>
        <p:spPr>
          <a:xfrm>
            <a:off x="2286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743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114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4572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5486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5943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>
            <a:off x="6858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7" name="Connector 16"/>
          <p:cNvCxnSpPr/>
          <p:nvPr/>
        </p:nvCxnSpPr>
        <p:spPr>
          <a:xfrm>
            <a:off x="7315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7772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8229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8686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>
            <a:off x="9144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105156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109728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114300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11887200" y="0"/>
            <a:ext cx="0" cy="685800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0" y="914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0" y="1828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0" y="2286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0" y="2743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0" y="3657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0" y="4114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0" y="45720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0" y="54864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0" y="59436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3175">
            <a:solidFill>
              <a:srgbClr val="DDDCD6"/>
            </a:solidFill>
          </a:ln>
          <a:effectLst/>
        </p:spPr>
      </p:cxnSp>
      <p:sp>
        <p:nvSpPr>
          <p:cNvPr id="42" name="Rectangle 4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979615" y="6153912"/>
            <a:ext cx="4892040" cy="384048"/>
          </a:xfrm>
          <a:prstGeom prst="rect">
            <a:avLst/>
          </a:prstGeom>
          <a:noFill/>
          <a:ln w="9525">
            <a:solidFill>
              <a:srgbClr val="A8A69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0199" y="6153912"/>
            <a:ext cx="24048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PIE — PRODUCT INTELLIGENCE ENGINE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958565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9686239" y="6153912"/>
            <a:ext cx="103327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4U PRECISION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0820095" y="6153912"/>
            <a:ext cx="0" cy="384048"/>
          </a:xfrm>
          <a:prstGeom prst="line">
            <a:avLst/>
          </a:prstGeom>
          <a:ln w="9525">
            <a:solidFill>
              <a:srgbClr val="A8A69E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920679" y="6153912"/>
            <a:ext cx="8503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spc="70">
                <a:solidFill>
                  <a:srgbClr val="A8A69E"/>
                </a:solidFill>
                <a:latin typeface="IBM Plex Mono"/>
              </a:rPr>
              <a:t>SHEET 14/14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713232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3200" b="1" spc="-45">
                <a:solidFill>
                  <a:srgbClr val="0E1116"/>
                </a:solidFill>
                <a:latin typeface="IBM Plex Sans"/>
              </a:rPr>
              <a:t>The thesis in five answers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2057399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23317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PROBLEM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77639" y="2240279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quote is where margin is made, and it runs on memory.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" y="29900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NOW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2898647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Distributor ERPs are readable by API; models handle the ambiguous edge.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2825495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364845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77639" y="3557015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Deterministic, auditable, with AI confined to where it helps.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4400" y="3483863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14400" y="430682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PIE WINS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7639" y="4215383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pack asset compounds; the engine is manufacturer-agnostic.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914400" y="4142232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914400" y="496519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spc="90">
                <a:solidFill>
                  <a:srgbClr val="A8A69E"/>
                </a:solidFill>
                <a:latin typeface="IBM Plex Mono"/>
              </a:rPr>
              <a:t>WHY THIS GETS LARGE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977639" y="4873751"/>
            <a:ext cx="7299655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1B4D7A"/>
                </a:solidFill>
                <a:latin typeface="IBM Plex Sans"/>
              </a:rPr>
              <a:t>The same engine crosses categories without new code.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914400" y="4800600"/>
            <a:ext cx="10362895" cy="0"/>
          </a:xfrm>
          <a:prstGeom prst="line">
            <a:avLst/>
          </a:prstGeom>
          <a:ln w="5080">
            <a:solidFill>
              <a:srgbClr val="A8A69E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914400" y="5458968"/>
            <a:ext cx="10362895" cy="0"/>
          </a:xfrm>
          <a:prstGeom prst="line">
            <a:avLst/>
          </a:prstGeom>
          <a:ln w="13970">
            <a:solidFill>
              <a:srgbClr val="0E1116"/>
            </a:solidFill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
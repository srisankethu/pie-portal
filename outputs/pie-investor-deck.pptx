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14400" y="2395728"/>
            <a:ext cx="10362895" cy="0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914400" y="2560320"/>
            <a:ext cx="10362895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0" b="1" spc="-240">
                <a:solidFill>
                  <a:srgbClr val="0E1116"/>
                </a:solidFill>
                <a:latin typeface="IBM Plex Sans"/>
              </a:rPr>
              <a:t>PIE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675887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spc="320">
                <a:solidFill>
                  <a:srgbClr val="1B4D7A"/>
                </a:solidFill>
                <a:latin typeface="IBM Plex Sans"/>
              </a:rPr>
              <a:t>PRODUCT INTELLIGENCE ENGINE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4315968"/>
            <a:ext cx="10362895" cy="0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914400" y="4553712"/>
            <a:ext cx="7863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313337"/>
                </a:solidFill>
                <a:latin typeface="IBM Plex Sans"/>
              </a:rPr>
              <a:t>ERP records the transaction. PIE understands the product</a:t>
            </a:r>
          </a:p>
          <a:p>
            <a:pPr algn="l">
              <a:lnSpc>
                <a:spcPct val="132000"/>
              </a:lnSpc>
            </a:pPr>
            <a:r>
              <a:rPr sz="1700" b="0">
                <a:solidFill>
                  <a:srgbClr val="313337"/>
                </a:solidFill>
                <a:latin typeface="IBM Plex Sans"/>
              </a:rPr>
              <a:t>and decides what should happen.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50468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DETERMINISTIC PRODUCT INTELLIGENCE FOR B2B INDUSTRIAL DISTRIBUTION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2084831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90">
                <a:solidFill>
                  <a:srgbClr val="A8A69E"/>
                </a:solidFill>
                <a:latin typeface="IBM Plex Mono"/>
              </a:rPr>
              <a:t>DRAWING TITLE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16775" y="6153912"/>
            <a:ext cx="475488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17359" y="6153912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2553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8726119" y="6153912"/>
            <a:ext cx="16276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HYDERABAD, INDIA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45433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10454335" y="6153912"/>
            <a:ext cx="1417320" cy="384048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36631" y="6208776"/>
            <a:ext cx="1252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[STAGE]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02/14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A quote begins as a sentence, not a part number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1874519"/>
            <a:ext cx="103628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13337"/>
                </a:solidFill>
                <a:latin typeface="IBM Plex Sans"/>
              </a:rPr>
              <a:t>The request arrives unstructured. Everything after it is manual.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2761488"/>
            <a:ext cx="10362895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914400" y="24505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1B4D7A"/>
                </a:solidFill>
                <a:latin typeface="IBM Plex Mono"/>
              </a:rPr>
              <a:t>RFQ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4255" y="24505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90">
                <a:solidFill>
                  <a:srgbClr val="1B4D7A"/>
                </a:solidFill>
                <a:latin typeface="IBM Plex Mono"/>
              </a:rPr>
              <a:t>QUOTE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417320" y="2916936"/>
            <a:ext cx="0" cy="155448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5" name="Oval 54"/>
          <p:cNvSpPr/>
          <p:nvPr/>
        </p:nvSpPr>
        <p:spPr>
          <a:xfrm>
            <a:off x="1261872" y="2606040"/>
            <a:ext cx="310896" cy="310896"/>
          </a:xfrm>
          <a:prstGeom prst="ellipse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61872" y="26060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B4D7A"/>
                </a:solidFill>
                <a:latin typeface="IBM Plex Mono"/>
              </a:rP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288731" y="2916936"/>
            <a:ext cx="0" cy="155448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8" name="Oval 57"/>
          <p:cNvSpPr/>
          <p:nvPr/>
        </p:nvSpPr>
        <p:spPr>
          <a:xfrm>
            <a:off x="3133283" y="2606040"/>
            <a:ext cx="310896" cy="310896"/>
          </a:xfrm>
          <a:prstGeom prst="ellipse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33283" y="26060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B4D7A"/>
                </a:solidFill>
                <a:latin typeface="IBM Plex Mono"/>
              </a:rPr>
              <a:t>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60142" y="2916936"/>
            <a:ext cx="0" cy="155448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1" name="Oval 60"/>
          <p:cNvSpPr/>
          <p:nvPr/>
        </p:nvSpPr>
        <p:spPr>
          <a:xfrm>
            <a:off x="5004694" y="2606040"/>
            <a:ext cx="310896" cy="310896"/>
          </a:xfrm>
          <a:prstGeom prst="ellipse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04694" y="26060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B4D7A"/>
                </a:solidFill>
                <a:latin typeface="IBM Plex Mono"/>
              </a:rPr>
              <a:t>3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031553" y="2916936"/>
            <a:ext cx="0" cy="155448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4" name="Oval 63"/>
          <p:cNvSpPr/>
          <p:nvPr/>
        </p:nvSpPr>
        <p:spPr>
          <a:xfrm>
            <a:off x="6876105" y="2606040"/>
            <a:ext cx="310896" cy="310896"/>
          </a:xfrm>
          <a:prstGeom prst="ellipse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76105" y="26060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B4D7A"/>
                </a:solidFill>
                <a:latin typeface="IBM Plex Mono"/>
              </a:rPr>
              <a:t>4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902964" y="2916936"/>
            <a:ext cx="0" cy="155448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7" name="Oval 66"/>
          <p:cNvSpPr/>
          <p:nvPr/>
        </p:nvSpPr>
        <p:spPr>
          <a:xfrm>
            <a:off x="8747516" y="2606040"/>
            <a:ext cx="310896" cy="310896"/>
          </a:xfrm>
          <a:prstGeom prst="ellipse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47516" y="26060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B4D7A"/>
                </a:solidFill>
                <a:latin typeface="IBM Plex Mono"/>
              </a:rPr>
              <a:t>5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774375" y="2916936"/>
            <a:ext cx="0" cy="155448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0" name="Oval 69"/>
          <p:cNvSpPr/>
          <p:nvPr/>
        </p:nvSpPr>
        <p:spPr>
          <a:xfrm>
            <a:off x="10618927" y="2606040"/>
            <a:ext cx="310896" cy="310896"/>
          </a:xfrm>
          <a:prstGeom prst="ellipse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18927" y="26060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B4D7A"/>
                </a:solidFill>
                <a:latin typeface="IBM Plex Mono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331012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90">
                <a:solidFill>
                  <a:srgbClr val="A8A69E"/>
                </a:solidFill>
                <a:latin typeface="IBM Plex Mono"/>
              </a:rPr>
              <a:t>FRICTION POINTS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14400" y="3529584"/>
            <a:ext cx="10362895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914400" y="368960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4D7A"/>
                </a:solidFill>
                <a:latin typeface="IBM Plex Mono"/>
              </a:rPr>
              <a:t>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98448" y="3625596"/>
            <a:ext cx="44956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RFQ arrives — WhatsApp, email, PDF, photo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4091939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4D7A"/>
                </a:solidFill>
                <a:latin typeface="IBM Plex Mono"/>
              </a:rP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98448" y="4027932"/>
            <a:ext cx="44956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Code decoded by hand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449427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4D7A"/>
                </a:solidFill>
                <a:latin typeface="IBM Plex Mono"/>
              </a:rPr>
              <a:t>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98448" y="4430268"/>
            <a:ext cx="44956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Item master searched — 15,028 items, name is not identity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5847" y="368960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4D7A"/>
                </a:solidFill>
                <a:latin typeface="IBM Plex Mono"/>
              </a:rPr>
              <a:t>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79895" y="3625596"/>
            <a:ext cx="44956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No grade field — expert memory fills it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95847" y="4091939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4D7A"/>
                </a:solidFill>
                <a:latin typeface="IBM Plex Mono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79895" y="4027932"/>
            <a:ext cx="44956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Cost and stock in another screen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95847" y="449427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4D7A"/>
                </a:solidFill>
                <a:latin typeface="IBM Plex Mono"/>
              </a:rPr>
              <a:t>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79895" y="4430268"/>
            <a:ext cx="44956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Price set from memory or last invoice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4956048"/>
            <a:ext cx="2514600" cy="402336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6696" y="5010912"/>
            <a:ext cx="2350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ELAPSED: [TO VALIDATE]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03/14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ERP records transactions. It does not understand products.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95847" y="1929384"/>
            <a:ext cx="0" cy="280720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203911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WHAT ERP KNOWS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" y="2592324"/>
            <a:ext cx="182880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207008" y="2459736"/>
            <a:ext cx="4541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13337"/>
                </a:solidFill>
                <a:latin typeface="IBM Plex Sans"/>
              </a:rPr>
              <a:t>SKU string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4400" y="2976372"/>
            <a:ext cx="182880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1207008" y="2843784"/>
            <a:ext cx="4541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13337"/>
                </a:solidFill>
                <a:latin typeface="IBM Plex Sans"/>
              </a:rPr>
              <a:t>stock on hand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14400" y="3360420"/>
            <a:ext cx="182880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207008" y="3227832"/>
            <a:ext cx="4541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13337"/>
                </a:solidFill>
                <a:latin typeface="IBM Plex Sans"/>
              </a:rPr>
              <a:t>last cost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14400" y="3744468"/>
            <a:ext cx="182880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1207008" y="3611880"/>
            <a:ext cx="4541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13337"/>
                </a:solidFill>
                <a:latin typeface="IBM Plex Sans"/>
              </a:rPr>
              <a:t>last selling price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4400" y="4128515"/>
            <a:ext cx="182880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1207008" y="3995928"/>
            <a:ext cx="4541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13337"/>
                </a:solidFill>
                <a:latin typeface="IBM Plex Sans"/>
              </a:rPr>
              <a:t>customer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14400" y="4512564"/>
            <a:ext cx="182880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1207008" y="4379976"/>
            <a:ext cx="4541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13337"/>
                </a:solidFill>
                <a:latin typeface="IBM Plex Sans"/>
              </a:rPr>
              <a:t>tax code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9895" y="203911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WHAT A QUOTE NEEDS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79895" y="2601468"/>
            <a:ext cx="182880" cy="0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6772503" y="2459736"/>
            <a:ext cx="440420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4D7A"/>
                </a:solidFill>
                <a:latin typeface="IBM Plex Sans"/>
              </a:rPr>
              <a:t>what the product physically is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479895" y="3076956"/>
            <a:ext cx="182880" cy="0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6772503" y="2935224"/>
            <a:ext cx="440420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4D7A"/>
                </a:solidFill>
                <a:latin typeface="IBM Plex Sans"/>
              </a:rPr>
              <a:t>whether another product substitutes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479895" y="3552444"/>
            <a:ext cx="182880" cy="0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6772503" y="3410712"/>
            <a:ext cx="440420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4D7A"/>
                </a:solidFill>
                <a:latin typeface="IBM Plex Sans"/>
              </a:rPr>
              <a:t>whether this price holds margin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479895" y="4027932"/>
            <a:ext cx="182880" cy="0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6772503" y="3886200"/>
            <a:ext cx="440420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4D7A"/>
                </a:solidFill>
                <a:latin typeface="IBM Plex Sans"/>
              </a:rPr>
              <a:t>whether this customer justifies it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14400" y="4956048"/>
            <a:ext cx="10362895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914400" y="5102352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Measured on this item master: 1.4% of item names carry a recognisable grade token.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Grade is the attribute the decision runs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04/14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141732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SHEET 04 — THE INSIGHT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1700784"/>
            <a:ext cx="10362895" cy="0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2267712"/>
            <a:ext cx="8321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3000" b="0" spc="-35">
                <a:solidFill>
                  <a:srgbClr val="0E1116"/>
                </a:solidFill>
                <a:latin typeface="IBM Plex Sans"/>
              </a:rPr>
              <a:t>The bottleneck is not recording the order. It is turning an unstructured request into a technically correct, commercially actionable quote — and that step lives in one person's 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05/14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One pipeline, ten stages, one legend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2148839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" y="2194559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RFQ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15184" y="2505456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2907792" y="2148839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71800" y="2194559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Parse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608576" y="2505456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56" name="Rectangle 55"/>
          <p:cNvSpPr/>
          <p:nvPr/>
        </p:nvSpPr>
        <p:spPr>
          <a:xfrm>
            <a:off x="4901184" y="2148839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65192" y="2194559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Classify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01968" y="2505456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6894576" y="2148839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58584" y="2194559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Normalize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595360" y="2505456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62" name="Rectangle 61"/>
          <p:cNvSpPr/>
          <p:nvPr/>
        </p:nvSpPr>
        <p:spPr>
          <a:xfrm>
            <a:off x="8887968" y="2148839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51976" y="2194559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Exact match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3630168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8408" y="3675887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Equivalents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615184" y="3986783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67" name="Rectangle 66"/>
          <p:cNvSpPr/>
          <p:nvPr/>
        </p:nvSpPr>
        <p:spPr>
          <a:xfrm>
            <a:off x="2907792" y="3630168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71800" y="3675887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Cost &amp;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availability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608576" y="3986783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70" name="Rectangle 69"/>
          <p:cNvSpPr/>
          <p:nvPr/>
        </p:nvSpPr>
        <p:spPr>
          <a:xfrm>
            <a:off x="4901184" y="3630168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65192" y="3675887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Margin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601968" y="3986783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73" name="Rectangle 72"/>
          <p:cNvSpPr/>
          <p:nvPr/>
        </p:nvSpPr>
        <p:spPr>
          <a:xfrm>
            <a:off x="6894576" y="3630168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58584" y="3675887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Recommendation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595360" y="3986783"/>
            <a:ext cx="29260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76" name="Rectangle 75"/>
          <p:cNvSpPr/>
          <p:nvPr/>
        </p:nvSpPr>
        <p:spPr>
          <a:xfrm>
            <a:off x="8887968" y="3630168"/>
            <a:ext cx="1700784" cy="713232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51976" y="3675887"/>
            <a:ext cx="15727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313337"/>
                </a:solidFill>
                <a:latin typeface="IBM Plex Mono"/>
              </a:rPr>
              <a:t>ERP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588752" y="2505456"/>
            <a:ext cx="962863" cy="0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11551615" y="2505456"/>
            <a:ext cx="0" cy="740664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H="1">
            <a:off x="640080" y="3246120"/>
            <a:ext cx="10911535" cy="0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640080" y="3246120"/>
            <a:ext cx="0" cy="740663"/>
          </a:xfrm>
          <a:prstGeom prst="line">
            <a:avLst/>
          </a:prstGeom>
          <a:ln w="9525">
            <a:solidFill>
              <a:srgbClr val="1B4D7A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640080" y="3986783"/>
            <a:ext cx="274320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83" name="Rectangle 82"/>
          <p:cNvSpPr/>
          <p:nvPr/>
        </p:nvSpPr>
        <p:spPr>
          <a:xfrm>
            <a:off x="914400" y="5047488"/>
            <a:ext cx="2487168" cy="566928"/>
          </a:xfrm>
          <a:prstGeom prst="rect">
            <a:avLst/>
          </a:prstGeom>
          <a:noFill/>
          <a:ln w="6350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1042416" y="5239512"/>
            <a:ext cx="347472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1481328" y="5166359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90">
                <a:solidFill>
                  <a:srgbClr val="A8A69E"/>
                </a:solidFill>
                <a:latin typeface="IBM Plex Mono"/>
              </a:rPr>
              <a:t>DETERMINISTIC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42416" y="5440679"/>
            <a:ext cx="347472" cy="0"/>
          </a:xfrm>
          <a:prstGeom prst="line">
            <a:avLst/>
          </a:prstGeom>
          <a:ln w="13970">
            <a:solidFill>
              <a:srgbClr val="1B4D7A"/>
            </a:solidFill>
            <a:prstDash val="dash"/>
          </a:ln>
          <a:effectLst/>
        </p:spPr>
      </p:cxnSp>
      <p:sp>
        <p:nvSpPr>
          <p:cNvPr id="87" name="TextBox 86"/>
          <p:cNvSpPr txBox="1"/>
          <p:nvPr/>
        </p:nvSpPr>
        <p:spPr>
          <a:xfrm>
            <a:off x="1481328" y="5367527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90">
                <a:solidFill>
                  <a:srgbClr val="A8A69E"/>
                </a:solidFill>
                <a:latin typeface="IBM Plex Mono"/>
              </a:rPr>
              <a:t>AI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03320" y="5047488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Eight of the ten stages are deterministic. Only intake and explanation are dashed. Every emitted field carries provenance, confidence, and a character span.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06/14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Same request in. Same quote out. Six steps removed.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2240279"/>
            <a:ext cx="786384" cy="2450592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" y="2285999"/>
            <a:ext cx="658368" cy="2359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313337"/>
                </a:solidFill>
                <a:latin typeface="IBM Plex Mono"/>
              </a:rPr>
              <a:t>RFQ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90911" y="2240279"/>
            <a:ext cx="786384" cy="2450592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54919" y="2285999"/>
            <a:ext cx="658368" cy="2359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313337"/>
                </a:solidFill>
                <a:latin typeface="IBM Plex Mono"/>
              </a:rPr>
              <a:t>Quote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75103" y="196596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TODAY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75103" y="2258568"/>
            <a:ext cx="1075465" cy="786384"/>
          </a:xfrm>
          <a:prstGeom prst="rect">
            <a:avLst/>
          </a:prstGeom>
          <a:noFill/>
          <a:ln w="9525">
            <a:solidFill>
              <a:srgbClr val="3133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39111" y="2304287"/>
            <a:ext cx="94744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Read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050569" y="2651760"/>
            <a:ext cx="118872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sp>
        <p:nvSpPr>
          <p:cNvPr id="58" name="Rectangle 57"/>
          <p:cNvSpPr/>
          <p:nvPr/>
        </p:nvSpPr>
        <p:spPr>
          <a:xfrm>
            <a:off x="3169441" y="2258568"/>
            <a:ext cx="1075465" cy="786384"/>
          </a:xfrm>
          <a:prstGeom prst="rect">
            <a:avLst/>
          </a:prstGeom>
          <a:noFill/>
          <a:ln w="9525">
            <a:solidFill>
              <a:srgbClr val="3133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33449" y="2304287"/>
            <a:ext cx="94744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Decode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by hand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244906" y="2651760"/>
            <a:ext cx="118872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sp>
        <p:nvSpPr>
          <p:cNvPr id="61" name="Rectangle 60"/>
          <p:cNvSpPr/>
          <p:nvPr/>
        </p:nvSpPr>
        <p:spPr>
          <a:xfrm>
            <a:off x="4363778" y="2258568"/>
            <a:ext cx="1075465" cy="786384"/>
          </a:xfrm>
          <a:prstGeom prst="rect">
            <a:avLst/>
          </a:prstGeom>
          <a:noFill/>
          <a:ln w="9525">
            <a:solidFill>
              <a:srgbClr val="3133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27786" y="2304287"/>
            <a:ext cx="94744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Search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master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39243" y="2651760"/>
            <a:ext cx="118872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sp>
        <p:nvSpPr>
          <p:cNvPr id="64" name="Rectangle 63"/>
          <p:cNvSpPr/>
          <p:nvPr/>
        </p:nvSpPr>
        <p:spPr>
          <a:xfrm>
            <a:off x="5558115" y="2258568"/>
            <a:ext cx="1075465" cy="786384"/>
          </a:xfrm>
          <a:prstGeom prst="rect">
            <a:avLst/>
          </a:prstGeom>
          <a:noFill/>
          <a:ln w="9525">
            <a:solidFill>
              <a:srgbClr val="3133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22123" y="2304287"/>
            <a:ext cx="94744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Check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stock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633580" y="2651760"/>
            <a:ext cx="118872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sp>
        <p:nvSpPr>
          <p:cNvPr id="67" name="Rectangle 66"/>
          <p:cNvSpPr/>
          <p:nvPr/>
        </p:nvSpPr>
        <p:spPr>
          <a:xfrm>
            <a:off x="6752452" y="2258568"/>
            <a:ext cx="1075465" cy="786384"/>
          </a:xfrm>
          <a:prstGeom prst="rect">
            <a:avLst/>
          </a:prstGeom>
          <a:noFill/>
          <a:ln w="9525">
            <a:solidFill>
              <a:srgbClr val="3133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16460" y="2304287"/>
            <a:ext cx="94744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Look up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cost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827917" y="2651760"/>
            <a:ext cx="118872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sp>
        <p:nvSpPr>
          <p:cNvPr id="70" name="Rectangle 69"/>
          <p:cNvSpPr/>
          <p:nvPr/>
        </p:nvSpPr>
        <p:spPr>
          <a:xfrm>
            <a:off x="7946789" y="2258568"/>
            <a:ext cx="1075465" cy="786384"/>
          </a:xfrm>
          <a:prstGeom prst="rect">
            <a:avLst/>
          </a:prstGeom>
          <a:noFill/>
          <a:ln w="9525">
            <a:solidFill>
              <a:srgbClr val="3133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10797" y="2304287"/>
            <a:ext cx="94744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Price from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memory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022254" y="2651760"/>
            <a:ext cx="118872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sp>
        <p:nvSpPr>
          <p:cNvPr id="73" name="Rectangle 72"/>
          <p:cNvSpPr/>
          <p:nvPr/>
        </p:nvSpPr>
        <p:spPr>
          <a:xfrm>
            <a:off x="9141126" y="2258568"/>
            <a:ext cx="1075465" cy="786384"/>
          </a:xfrm>
          <a:prstGeom prst="rect">
            <a:avLst/>
          </a:prstGeom>
          <a:noFill/>
          <a:ln w="9525">
            <a:solidFill>
              <a:srgbClr val="3133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05134" y="2304287"/>
            <a:ext cx="94744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Type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quote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700784" y="2651760"/>
            <a:ext cx="274319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10216591" y="2651760"/>
            <a:ext cx="274320" cy="0"/>
          </a:xfrm>
          <a:prstGeom prst="line">
            <a:avLst/>
          </a:prstGeom>
          <a:ln w="9525">
            <a:solidFill>
              <a:srgbClr val="313337"/>
            </a:solidFill>
            <a:tailEnd type="triangle" w="med" len="med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1975103" y="3611879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1B4D7A"/>
                </a:solidFill>
                <a:latin typeface="IBM Plex Mono"/>
              </a:rPr>
              <a:t>WITH PIE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75103" y="3904487"/>
            <a:ext cx="1051560" cy="78638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39111" y="3950207"/>
            <a:ext cx="923543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Paste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026663" y="4297679"/>
            <a:ext cx="201169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227831" y="3904487"/>
            <a:ext cx="4483303" cy="78638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1839" y="3950207"/>
            <a:ext cx="4355287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Resolved lines, ranked alternatives,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stock, cost, recommended price, margin flag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11135" y="4297679"/>
            <a:ext cx="20116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84" name="Rectangle 83"/>
          <p:cNvSpPr/>
          <p:nvPr/>
        </p:nvSpPr>
        <p:spPr>
          <a:xfrm>
            <a:off x="7912303" y="3904487"/>
            <a:ext cx="1051560" cy="78638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76311" y="3950207"/>
            <a:ext cx="923543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Review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963863" y="4297679"/>
            <a:ext cx="20116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87" name="Rectangle 86"/>
          <p:cNvSpPr/>
          <p:nvPr/>
        </p:nvSpPr>
        <p:spPr>
          <a:xfrm>
            <a:off x="9165031" y="3904487"/>
            <a:ext cx="1051560" cy="78638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29039" y="3950207"/>
            <a:ext cx="923543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Send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700784" y="4297679"/>
            <a:ext cx="274319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10216591" y="4297679"/>
            <a:ext cx="274320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914400" y="51389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13337"/>
                </a:solidFill>
                <a:latin typeface="IBM Plex Sans"/>
              </a:rPr>
              <a:t>The human still approves every line. PIE removes the lookup, not the judgement.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" y="5577840"/>
            <a:ext cx="4343400" cy="365760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6696" y="5632703"/>
            <a:ext cx="41788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[TO VALIDATE] MINUTES SAVED PER 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07/14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One line, end to 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1728216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90">
                <a:solidFill>
                  <a:srgbClr val="A8A69E"/>
                </a:solidFill>
                <a:latin typeface="IBM Plex Mono"/>
              </a:rPr>
              <a:t>LIVE ENGINE OUTPUT · PACK KENNAMETAL_WIDIA V0.10.0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2020824"/>
            <a:ext cx="52806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spc="0">
                <a:solidFill>
                  <a:srgbClr val="0E1116"/>
                </a:solidFill>
                <a:latin typeface="IBM Plex Mono"/>
              </a:rPr>
              <a:t>CNMG 120408-49 - TN2000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" y="2551176"/>
            <a:ext cx="205740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017270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1017270" y="2880360"/>
            <a:ext cx="472846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960120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rhombic 80°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20140" y="2551176"/>
            <a:ext cx="205740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1223010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1223010" y="2880360"/>
            <a:ext cx="1418539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2111552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clearance 0°</a:t>
            </a:r>
          </a:p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negative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325880" y="2551176"/>
            <a:ext cx="205739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1428750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1428750" y="2880360"/>
            <a:ext cx="2364232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3262985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tolerance</a:t>
            </a:r>
          </a:p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class M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531619" y="2551176"/>
            <a:ext cx="205741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1634489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1634489" y="2880360"/>
            <a:ext cx="3309925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4414418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fixing type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943100" y="2551176"/>
            <a:ext cx="411479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148839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148839" y="2880360"/>
            <a:ext cx="3947008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5565851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edge length</a:t>
            </a:r>
          </a:p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12 mm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354579" y="2551176"/>
            <a:ext cx="411481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560320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560320" y="2880360"/>
            <a:ext cx="4686960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6717284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thickness</a:t>
            </a:r>
          </a:p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4.76 mm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766060" y="2551176"/>
            <a:ext cx="411479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971800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2971800" y="2880360"/>
            <a:ext cx="5426913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7868716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corner radius</a:t>
            </a:r>
          </a:p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0.8 mm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383279" y="2551176"/>
            <a:ext cx="411480" cy="0"/>
          </a:xfrm>
          <a:prstGeom prst="line">
            <a:avLst/>
          </a:prstGeom>
          <a:ln w="13970">
            <a:solidFill>
              <a:srgbClr val="1B4D7A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589020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3589020" y="2880360"/>
            <a:ext cx="5961126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9020149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chipbreaker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029200" y="2569464"/>
            <a:ext cx="0" cy="31089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5029200" y="2880360"/>
            <a:ext cx="5672378" cy="265176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10171582" y="3191256"/>
            <a:ext cx="105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grade — column</a:t>
            </a:r>
          </a:p>
          <a:p>
            <a:pPr algn="ctr">
              <a:lnSpc>
                <a:spcPct val="116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WIDIA legacy 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14400" y="4224528"/>
            <a:ext cx="10362895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914400" y="4462272"/>
            <a:ext cx="1965960" cy="65836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8408" y="4507992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Identity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MM# 2001174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880360" y="4791456"/>
            <a:ext cx="38404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91" name="Rectangle 90"/>
          <p:cNvSpPr/>
          <p:nvPr/>
        </p:nvSpPr>
        <p:spPr>
          <a:xfrm>
            <a:off x="3264408" y="4462272"/>
            <a:ext cx="1965960" cy="65836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28415" y="4507992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Zoho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stock · landed cost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230368" y="4791456"/>
            <a:ext cx="38404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94" name="Rectangle 93"/>
          <p:cNvSpPr/>
          <p:nvPr/>
        </p:nvSpPr>
        <p:spPr>
          <a:xfrm>
            <a:off x="5614416" y="4462272"/>
            <a:ext cx="1965960" cy="65836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78424" y="4507992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Pricing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recommended · floor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580375" y="4791456"/>
            <a:ext cx="384048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97" name="Rectangle 96"/>
          <p:cNvSpPr/>
          <p:nvPr/>
        </p:nvSpPr>
        <p:spPr>
          <a:xfrm>
            <a:off x="7964423" y="4462272"/>
            <a:ext cx="1965960" cy="65836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28431" y="4507992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1">
                <a:solidFill>
                  <a:srgbClr val="1B4D7A"/>
                </a:solidFill>
                <a:latin typeface="IBM Plex Mono"/>
              </a:rPr>
              <a:t>EXACT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" y="5504688"/>
            <a:ext cx="8595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The eight character spans are the engine's own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08/14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Correctness is deterministic.</a:t>
            </a:r>
          </a:p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Ambiguity is where AI earns its place.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2350008"/>
            <a:ext cx="1853123" cy="676656"/>
          </a:xfrm>
          <a:prstGeom prst="rect">
            <a:avLst/>
          </a:prstGeom>
          <a:noFill/>
          <a:ln w="9525">
            <a:solidFill>
              <a:srgbClr val="1B4D7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" y="2395727"/>
            <a:ext cx="172510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NL RFQ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intake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41843" y="2350008"/>
            <a:ext cx="1853123" cy="676656"/>
          </a:xfrm>
          <a:prstGeom prst="rect">
            <a:avLst/>
          </a:prstGeom>
          <a:noFill/>
          <a:ln w="9525">
            <a:solidFill>
              <a:srgbClr val="1B4D7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5851" y="2395727"/>
            <a:ext cx="172510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Conversation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69286" y="2350008"/>
            <a:ext cx="1853123" cy="676656"/>
          </a:xfrm>
          <a:prstGeom prst="rect">
            <a:avLst/>
          </a:prstGeom>
          <a:noFill/>
          <a:ln w="9525">
            <a:solidFill>
              <a:srgbClr val="1B4D7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33294" y="2395727"/>
            <a:ext cx="172510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Explanation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96729" y="2350008"/>
            <a:ext cx="1853123" cy="676656"/>
          </a:xfrm>
          <a:prstGeom prst="rect">
            <a:avLst/>
          </a:prstGeom>
          <a:noFill/>
          <a:ln w="9525">
            <a:solidFill>
              <a:srgbClr val="1B4D7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60737" y="2395727"/>
            <a:ext cx="172510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Exploration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24172" y="2350008"/>
            <a:ext cx="1853123" cy="676656"/>
          </a:xfrm>
          <a:prstGeom prst="rect">
            <a:avLst/>
          </a:prstGeom>
          <a:noFill/>
          <a:ln w="9525">
            <a:solidFill>
              <a:srgbClr val="1B4D7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88180" y="2395727"/>
            <a:ext cx="172510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Agent</a:t>
            </a:r>
          </a:p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configuration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207568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90">
                <a:solidFill>
                  <a:srgbClr val="A8A69E"/>
                </a:solidFill>
                <a:latin typeface="IBM Plex Mono"/>
              </a:rPr>
              <a:t>AI LAYER — OPTIONAL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95847" y="3026663"/>
            <a:ext cx="0" cy="621793"/>
          </a:xfrm>
          <a:prstGeom prst="line">
            <a:avLst/>
          </a:prstGeom>
          <a:ln w="9525">
            <a:solidFill>
              <a:srgbClr val="1B4D7A"/>
            </a:solidFill>
            <a:prstDash val="dash"/>
            <a:tailEnd type="triangl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6205575" y="319125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90">
                <a:solidFill>
                  <a:srgbClr val="A8A69E"/>
                </a:solidFill>
                <a:latin typeface="IBM Plex Mono"/>
              </a:rPr>
              <a:t>READS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3648456"/>
            <a:ext cx="1339334" cy="60350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" y="3694176"/>
            <a:ext cx="121131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Parsing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18326" y="3648456"/>
            <a:ext cx="1339334" cy="60350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82334" y="3694176"/>
            <a:ext cx="121131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Classification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22253" y="3648456"/>
            <a:ext cx="1339334" cy="60350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86261" y="3694176"/>
            <a:ext cx="121131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Attributes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26180" y="3648456"/>
            <a:ext cx="1339334" cy="60350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90188" y="3694176"/>
            <a:ext cx="121131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Equivalence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30106" y="3648456"/>
            <a:ext cx="1339334" cy="60350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4114" y="3694176"/>
            <a:ext cx="121131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Pricing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34033" y="3648456"/>
            <a:ext cx="1339334" cy="60350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98041" y="3694176"/>
            <a:ext cx="121131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Margin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37960" y="3648456"/>
            <a:ext cx="1339334" cy="60350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01968" y="3694176"/>
            <a:ext cx="121131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Policy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3374136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90">
                <a:solidFill>
                  <a:srgbClr val="1B4D7A"/>
                </a:solidFill>
                <a:latin typeface="IBM Plex Mono"/>
              </a:rPr>
              <a:t>DETERMINISTIC ENGINE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" y="4672583"/>
            <a:ext cx="1589989" cy="457200"/>
          </a:xfrm>
          <a:prstGeom prst="rect">
            <a:avLst/>
          </a:prstGeom>
          <a:noFill/>
          <a:ln w="6350">
            <a:solidFill>
              <a:srgbClr val="2E8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8408" y="4718303"/>
            <a:ext cx="14619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Margin</a:t>
            </a:r>
          </a:p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Leakage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68981" y="4672583"/>
            <a:ext cx="1589989" cy="457200"/>
          </a:xfrm>
          <a:prstGeom prst="rect">
            <a:avLst/>
          </a:prstGeom>
          <a:noFill/>
          <a:ln w="6350">
            <a:solidFill>
              <a:srgbClr val="2E8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32989" y="4718303"/>
            <a:ext cx="14619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Cost</a:t>
            </a:r>
          </a:p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Change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23562" y="4672583"/>
            <a:ext cx="1589989" cy="457200"/>
          </a:xfrm>
          <a:prstGeom prst="rect">
            <a:avLst/>
          </a:prstGeom>
          <a:noFill/>
          <a:ln w="6350">
            <a:solidFill>
              <a:srgbClr val="2E8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87570" y="4718303"/>
            <a:ext cx="14619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Quote</a:t>
            </a:r>
          </a:p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Risk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8143" y="4672583"/>
            <a:ext cx="1589989" cy="457200"/>
          </a:xfrm>
          <a:prstGeom prst="rect">
            <a:avLst/>
          </a:prstGeom>
          <a:noFill/>
          <a:ln w="6350">
            <a:solidFill>
              <a:srgbClr val="2E8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42151" y="4718303"/>
            <a:ext cx="14619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Price</a:t>
            </a:r>
          </a:p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Increase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32724" y="4672583"/>
            <a:ext cx="1589989" cy="457200"/>
          </a:xfrm>
          <a:prstGeom prst="rect">
            <a:avLst/>
          </a:prstGeom>
          <a:noFill/>
          <a:ln w="6350">
            <a:solidFill>
              <a:srgbClr val="2E8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96732" y="4718303"/>
            <a:ext cx="14619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Dead</a:t>
            </a:r>
          </a:p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Stock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87306" y="4672583"/>
            <a:ext cx="1589989" cy="457200"/>
          </a:xfrm>
          <a:prstGeom prst="rect">
            <a:avLst/>
          </a:prstGeom>
          <a:noFill/>
          <a:ln w="6350">
            <a:solidFill>
              <a:srgbClr val="2E8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51314" y="4718303"/>
            <a:ext cx="14619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Equivalent</a:t>
            </a:r>
          </a:p>
          <a:p>
            <a:pPr algn="ctr">
              <a:lnSpc>
                <a:spcPct val="112000"/>
              </a:lnSpc>
            </a:pPr>
            <a:r>
              <a:rPr sz="700" b="0">
                <a:solidFill>
                  <a:srgbClr val="313337"/>
                </a:solidFill>
                <a:latin typeface="IBM Plex Mono"/>
              </a:rPr>
              <a:t>Opportunity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" y="443484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90">
                <a:solidFill>
                  <a:srgbClr val="A8A69E"/>
                </a:solidFill>
                <a:latin typeface="IBM Plex Mono"/>
              </a:rPr>
              <a:t>DETERMINISTIC WATCHERS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5358384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The AI never computes a number. Every figure it states must trace to a supplied fact or the response is rejected and the deterministic reading is shown.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The AI ships off by default — the engine underneath is the valuable half.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09/14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The engine is manufacturer-agnostic by construction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2240279"/>
            <a:ext cx="2788920" cy="384048"/>
          </a:xfrm>
          <a:prstGeom prst="rect">
            <a:avLst/>
          </a:prstGeom>
          <a:noFill/>
          <a:ln w="1778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" y="2285999"/>
            <a:ext cx="2660903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1B4D7A"/>
                </a:solidFill>
                <a:latin typeface="IBM Plex Mono"/>
              </a:rPr>
              <a:t>Cutting 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2715768"/>
            <a:ext cx="2788920" cy="384048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" y="2761487"/>
            <a:ext cx="2660903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Bearings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308860" y="2624327"/>
            <a:ext cx="0" cy="91441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914400" y="3191256"/>
            <a:ext cx="2788920" cy="384048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" y="3236975"/>
            <a:ext cx="2660903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Power transmission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308860" y="3099815"/>
            <a:ext cx="0" cy="91441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58" name="Rectangle 57"/>
          <p:cNvSpPr/>
          <p:nvPr/>
        </p:nvSpPr>
        <p:spPr>
          <a:xfrm>
            <a:off x="914400" y="3666744"/>
            <a:ext cx="2788920" cy="384048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3712463"/>
            <a:ext cx="2660903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Hydraulics, pneumatics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308860" y="3575303"/>
            <a:ext cx="0" cy="91441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1" name="Rectangle 60"/>
          <p:cNvSpPr/>
          <p:nvPr/>
        </p:nvSpPr>
        <p:spPr>
          <a:xfrm>
            <a:off x="914400" y="4142231"/>
            <a:ext cx="2788920" cy="384048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" y="4187951"/>
            <a:ext cx="2660903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Abrasives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308860" y="4050791"/>
            <a:ext cx="0" cy="9144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4" name="Rectangle 63"/>
          <p:cNvSpPr/>
          <p:nvPr/>
        </p:nvSpPr>
        <p:spPr>
          <a:xfrm>
            <a:off x="914400" y="4617720"/>
            <a:ext cx="2788920" cy="384048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8408" y="4663440"/>
            <a:ext cx="2660903" cy="2926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313337"/>
                </a:solidFill>
                <a:latin typeface="IBM Plex Mono"/>
              </a:rPr>
              <a:t>Specialty fasteners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308860" y="4526280"/>
            <a:ext cx="0" cy="9144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914400" y="1965960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90">
                <a:solidFill>
                  <a:srgbClr val="A8A69E"/>
                </a:solidFill>
                <a:latin typeface="IBM Plex Mono"/>
              </a:rPr>
              <a:t>CATEGORY LADDER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2203703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Each rung: encoded codes, cross-brand substitution, a catalogue nobody memorises.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New manufacturer, unchanged engine. New category also needs a standards decoder.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20" y="1929384"/>
            <a:ext cx="39163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90">
                <a:solidFill>
                  <a:srgbClr val="A8A69E"/>
                </a:solidFill>
                <a:latin typeface="IBM Plex Mono"/>
              </a:rPr>
              <a:t>SIZED OPPORTUNITY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60920" y="2148839"/>
            <a:ext cx="3916375" cy="31272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25512" y="2313432"/>
            <a:ext cx="358719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1B4D7A"/>
                </a:solidFill>
                <a:latin typeface="IBM Plex Mono"/>
              </a:rPr>
              <a:t>TAM  =  A × B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1B4D7A"/>
                </a:solidFill>
                <a:latin typeface="IBM Plex Mono"/>
              </a:rPr>
              <a:t>SAM  =  TAM × C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1B4D7A"/>
                </a:solidFill>
                <a:latin typeface="IBM Plex Mono"/>
              </a:rPr>
              <a:t>SOM  =  SAM × D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525512" y="3264408"/>
            <a:ext cx="3587191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7525512" y="34290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4D7A"/>
                </a:solidFill>
                <a:latin typeface="IBM Plex Mono"/>
              </a:rPr>
              <a:t>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36408" y="3392424"/>
            <a:ext cx="1353312" cy="310896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18704" y="3447288"/>
            <a:ext cx="11887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81160" y="3433572"/>
            <a:ext cx="1831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distributors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5512" y="38587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4D7A"/>
                </a:solidFill>
                <a:latin typeface="IBM Plex Mono"/>
              </a:rPr>
              <a:t>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36408" y="3822191"/>
            <a:ext cx="1353312" cy="310896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18704" y="3877055"/>
            <a:ext cx="11887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81160" y="3863339"/>
            <a:ext cx="1831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annual spend each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25512" y="42885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4D7A"/>
                </a:solidFill>
                <a:latin typeface="IBM Plex Mono"/>
              </a:rPr>
              <a:t>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36408" y="4251960"/>
            <a:ext cx="1353312" cy="310896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18704" y="4306824"/>
            <a:ext cx="11887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4293108"/>
            <a:ext cx="1831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connected-ERP share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25512" y="47183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4D7A"/>
                </a:solidFill>
                <a:latin typeface="IBM Plex Mono"/>
              </a:rPr>
              <a:t>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36408" y="4681728"/>
            <a:ext cx="1353312" cy="310896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18704" y="4736592"/>
            <a:ext cx="11887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81160" y="4722876"/>
            <a:ext cx="1831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reachable in three years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10/14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The layer between describing a product and quoting 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2075688"/>
            <a:ext cx="10362895" cy="448056"/>
          </a:xfrm>
          <a:prstGeom prst="rect">
            <a:avLst/>
          </a:prstGeom>
          <a:noFill/>
          <a:ln w="7620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" y="2075688"/>
            <a:ext cx="29260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50">
                <a:solidFill>
                  <a:srgbClr val="313337"/>
                </a:solidFill>
                <a:latin typeface="IBM Plex Mono"/>
              </a:rPr>
              <a:t>ERP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2075688"/>
            <a:ext cx="693389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records the transaction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574036"/>
            <a:ext cx="10362895" cy="448056"/>
          </a:xfrm>
          <a:prstGeom prst="rect">
            <a:avLst/>
          </a:prstGeom>
          <a:noFill/>
          <a:ln w="7620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2574036"/>
            <a:ext cx="29260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50">
                <a:solidFill>
                  <a:srgbClr val="313337"/>
                </a:solidFill>
                <a:latin typeface="IBM Plex Mono"/>
              </a:rPr>
              <a:t>PIM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2574036"/>
            <a:ext cx="693389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describes the product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8720" y="3072384"/>
            <a:ext cx="9814255" cy="448056"/>
          </a:xfrm>
          <a:prstGeom prst="rect">
            <a:avLst/>
          </a:prstGeom>
          <a:noFill/>
          <a:ln w="1905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3072384"/>
            <a:ext cx="29260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50">
                <a:solidFill>
                  <a:srgbClr val="1B4D7A"/>
                </a:solidFill>
                <a:latin typeface="IBM Plex Mono"/>
              </a:rPr>
              <a:t>PIE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3072384"/>
            <a:ext cx="638525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4D7A"/>
                </a:solidFill>
                <a:latin typeface="IBM Plex Sans"/>
              </a:rPr>
              <a:t>understands it and recommends the decision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3570732"/>
            <a:ext cx="10362895" cy="448056"/>
          </a:xfrm>
          <a:prstGeom prst="rect">
            <a:avLst/>
          </a:prstGeom>
          <a:noFill/>
          <a:ln w="7620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3570732"/>
            <a:ext cx="29260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50">
                <a:solidFill>
                  <a:srgbClr val="313337"/>
                </a:solidFill>
                <a:latin typeface="IBM Plex Mono"/>
              </a:rPr>
              <a:t>CPQ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0520" y="3570732"/>
            <a:ext cx="693389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configures and issues the quote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069080"/>
            <a:ext cx="10362895" cy="448056"/>
          </a:xfrm>
          <a:prstGeom prst="rect">
            <a:avLst/>
          </a:prstGeom>
          <a:noFill/>
          <a:ln w="7620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7280" y="4069080"/>
            <a:ext cx="29260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50">
                <a:solidFill>
                  <a:srgbClr val="313337"/>
                </a:solidFill>
                <a:latin typeface="IBM Plex Mono"/>
              </a:rPr>
              <a:t>PRICING PLATFORMS (PRICEFX)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60520" y="4069080"/>
            <a:ext cx="693389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optimise price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" y="4567428"/>
            <a:ext cx="10362895" cy="448056"/>
          </a:xfrm>
          <a:prstGeom prst="rect">
            <a:avLst/>
          </a:prstGeom>
          <a:noFill/>
          <a:ln w="7620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567428"/>
            <a:ext cx="29260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50">
                <a:solidFill>
                  <a:srgbClr val="313337"/>
                </a:solidFill>
                <a:latin typeface="IBM Plex Mono"/>
              </a:rPr>
              <a:t>AI COPILOTS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0520" y="4567428"/>
            <a:ext cx="693389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converse about 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5065776"/>
            <a:ext cx="10362895" cy="448056"/>
          </a:xfrm>
          <a:prstGeom prst="rect">
            <a:avLst/>
          </a:prstGeom>
          <a:noFill/>
          <a:ln w="7620">
            <a:solidFill>
              <a:srgbClr val="A8A69E"/>
            </a:solidFill>
            <a:prstDash val="sys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7280" y="5065776"/>
            <a:ext cx="29260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50">
                <a:solidFill>
                  <a:srgbClr val="313337"/>
                </a:solidFill>
                <a:latin typeface="IBM Plex Mono"/>
              </a:rPr>
              <a:t>SPREADSHEETS + MEMORY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60520" y="5065776"/>
            <a:ext cx="693389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13337"/>
                </a:solidFill>
                <a:latin typeface="IBM Plex Sans"/>
              </a:rPr>
              <a:t>the actual incumbent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70585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C8892A"/>
                </a:solidFill>
                <a:latin typeface="IBM Plex Mono"/>
              </a:rPr>
              <a:t>REPLACES NOTHING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0520" y="565099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13337"/>
                </a:solidFill>
                <a:latin typeface="IBM Plex Sans"/>
              </a:rPr>
              <a:t>It supplies the layer none of them owns.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71055" y="1783079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90">
                <a:solidFill>
                  <a:srgbClr val="A8A69E"/>
                </a:solidFill>
                <a:latin typeface="IBM Plex Mono"/>
              </a:rPr>
              <a:t>DASHED HERE = INFORMAL, NOT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11/14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The asset is the decoded nomenclature, and it only accumulates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4224528"/>
            <a:ext cx="1370685" cy="56692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" y="4270248"/>
            <a:ext cx="124266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Manufacturer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naming grammars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13101" y="3950208"/>
            <a:ext cx="1370685" cy="56692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77109" y="3995928"/>
            <a:ext cx="124266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Normalisation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2285085" y="4233672"/>
            <a:ext cx="128016" cy="27432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3911803" y="3675888"/>
            <a:ext cx="1370685" cy="56692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75811" y="3721608"/>
            <a:ext cx="124266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Sourced pairwise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equivalence claims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783787" y="3959352"/>
            <a:ext cx="128016" cy="27432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58" name="Rectangle 57"/>
          <p:cNvSpPr/>
          <p:nvPr/>
        </p:nvSpPr>
        <p:spPr>
          <a:xfrm>
            <a:off x="5410504" y="3401568"/>
            <a:ext cx="1370685" cy="56692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74512" y="3447288"/>
            <a:ext cx="124266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Distributor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commercial data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5282488" y="3685032"/>
            <a:ext cx="128016" cy="27432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61" name="Rectangle 60"/>
          <p:cNvSpPr/>
          <p:nvPr/>
        </p:nvSpPr>
        <p:spPr>
          <a:xfrm>
            <a:off x="6909206" y="3127248"/>
            <a:ext cx="1370685" cy="56692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73214" y="3172968"/>
            <a:ext cx="124266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Quote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outcomes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6781190" y="3410712"/>
            <a:ext cx="128016" cy="274319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64" name="Rectangle 63"/>
          <p:cNvSpPr/>
          <p:nvPr/>
        </p:nvSpPr>
        <p:spPr>
          <a:xfrm>
            <a:off x="8407908" y="2852928"/>
            <a:ext cx="1370685" cy="56692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71916" y="2898648"/>
            <a:ext cx="124266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Pricing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policy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8279892" y="3136392"/>
            <a:ext cx="128016" cy="27432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67" name="Rectangle 66"/>
          <p:cNvSpPr/>
          <p:nvPr/>
        </p:nvSpPr>
        <p:spPr>
          <a:xfrm>
            <a:off x="9906609" y="2578608"/>
            <a:ext cx="1370685" cy="566928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70617" y="2624328"/>
            <a:ext cx="124266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Workflow</a:t>
            </a:r>
          </a:p>
          <a:p>
            <a:pPr algn="ctr">
              <a:lnSpc>
                <a:spcPct val="112000"/>
              </a:lnSpc>
            </a:pPr>
            <a:r>
              <a:rPr sz="750" b="0">
                <a:solidFill>
                  <a:srgbClr val="313337"/>
                </a:solidFill>
                <a:latin typeface="IBM Plex Mono"/>
              </a:rPr>
              <a:t>position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9778593" y="2862072"/>
            <a:ext cx="128016" cy="27432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914400" y="5065776"/>
            <a:ext cx="10362895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914400" y="5157216"/>
            <a:ext cx="10362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90">
                <a:solidFill>
                  <a:srgbClr val="A8A69E"/>
                </a:solidFill>
                <a:latin typeface="IBM Plex Mono"/>
              </a:rPr>
              <a:t>COMPOUNDS WITH EVERY PACK, EVERY QUOTE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358384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Each manufacturer's code system is reverse-engineered once into a versioned pack: 11 families, 6,717 rows, all at 100%.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That structure is published nowhere — not a data-scale claim, but a specific artefact that took specification work to build.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12/14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Land on the quote desk. Expand into the commercial decision.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1938527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90">
                <a:solidFill>
                  <a:srgbClr val="A8A69E"/>
                </a:solidFill>
                <a:latin typeface="IBM Plex Mono"/>
              </a:rPr>
              <a:t>WHO — THE SCREEN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2157983"/>
            <a:ext cx="1589989" cy="42062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" y="2203703"/>
            <a:ext cx="146197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&gt; 5,000 SKUs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8981" y="2157983"/>
            <a:ext cx="1589989" cy="42062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32989" y="2203703"/>
            <a:ext cx="146197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Encoded geometry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23562" y="2157983"/>
            <a:ext cx="1589989" cy="42062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7570" y="2203703"/>
            <a:ext cx="146197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&gt; 150 lines/month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8143" y="2157983"/>
            <a:ext cx="1589989" cy="42062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2151" y="2203703"/>
            <a:ext cx="146197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Margin &lt; 25%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32724" y="2157983"/>
            <a:ext cx="1589989" cy="42062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96732" y="2203703"/>
            <a:ext cx="146197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3–30 quoting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87306" y="2157983"/>
            <a:ext cx="1589989" cy="420624"/>
          </a:xfrm>
          <a:prstGeom prst="rect">
            <a:avLst/>
          </a:prstGeom>
          <a:noFill/>
          <a:ln w="9525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1314" y="2203703"/>
            <a:ext cx="146197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Connector ERP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278892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90">
                <a:solidFill>
                  <a:srgbClr val="A8A69E"/>
                </a:solidFill>
                <a:latin typeface="IBM Plex Mono"/>
              </a:rPr>
              <a:t>HOW IT LANDS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3026663"/>
            <a:ext cx="103628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13337"/>
                </a:solidFill>
                <a:latin typeface="IBM Plex Sans"/>
              </a:rPr>
              <a:t>Founder-led. Owner or sales head, triggered by a price increase or a departing expert. Diagnostic before demo.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3483863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90">
                <a:solidFill>
                  <a:srgbClr val="A8A69E"/>
                </a:solidFill>
                <a:latin typeface="IBM Plex Mono"/>
              </a:rPr>
              <a:t>HOW IT GROWS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3703320"/>
            <a:ext cx="1529029" cy="512064"/>
          </a:xfrm>
          <a:prstGeom prst="rect">
            <a:avLst/>
          </a:prstGeom>
          <a:noFill/>
          <a:ln w="1905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8408" y="3749039"/>
            <a:ext cx="140101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1B4D7A"/>
                </a:solidFill>
                <a:latin typeface="IBM Plex Mono"/>
              </a:rPr>
              <a:t>Quote Desk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443429" y="3959352"/>
            <a:ext cx="237744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69" name="Rectangle 68"/>
          <p:cNvSpPr/>
          <p:nvPr/>
        </p:nvSpPr>
        <p:spPr>
          <a:xfrm>
            <a:off x="2681173" y="3703320"/>
            <a:ext cx="1529029" cy="512064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5181" y="3749039"/>
            <a:ext cx="140101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Product</a:t>
            </a:r>
          </a:p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Intelligence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210202" y="3959352"/>
            <a:ext cx="237744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72" name="Rectangle 71"/>
          <p:cNvSpPr/>
          <p:nvPr/>
        </p:nvSpPr>
        <p:spPr>
          <a:xfrm>
            <a:off x="4447946" y="3703320"/>
            <a:ext cx="1529029" cy="512064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11954" y="3749039"/>
            <a:ext cx="140101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Pricing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976975" y="3959352"/>
            <a:ext cx="237744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75" name="Rectangle 74"/>
          <p:cNvSpPr/>
          <p:nvPr/>
        </p:nvSpPr>
        <p:spPr>
          <a:xfrm>
            <a:off x="6214719" y="3703320"/>
            <a:ext cx="1529029" cy="512064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78727" y="3749039"/>
            <a:ext cx="140101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Margin</a:t>
            </a:r>
          </a:p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Management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743748" y="3959352"/>
            <a:ext cx="237744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78" name="Rectangle 77"/>
          <p:cNvSpPr/>
          <p:nvPr/>
        </p:nvSpPr>
        <p:spPr>
          <a:xfrm>
            <a:off x="7981492" y="3703320"/>
            <a:ext cx="1529029" cy="512064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45500" y="3749039"/>
            <a:ext cx="140101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Agents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510521" y="3959352"/>
            <a:ext cx="237744" cy="0"/>
          </a:xfrm>
          <a:prstGeom prst="line">
            <a:avLst/>
          </a:prstGeom>
          <a:ln w="9525">
            <a:solidFill>
              <a:srgbClr val="1B4D7A"/>
            </a:solidFill>
            <a:tailEnd type="triangle" w="med" len="med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9748266" y="3703320"/>
            <a:ext cx="1529029" cy="512064"/>
          </a:xfrm>
          <a:prstGeom prst="rect">
            <a:avLst/>
          </a:prstGeom>
          <a:noFill/>
          <a:ln w="7620">
            <a:solidFill>
              <a:srgbClr val="1B4D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12274" y="3749039"/>
            <a:ext cx="140101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Commercial</a:t>
            </a:r>
          </a:p>
          <a:p>
            <a:pPr algn="ctr">
              <a:lnSpc>
                <a:spcPct val="112000"/>
              </a:lnSpc>
            </a:pPr>
            <a:r>
              <a:rPr sz="800" b="0">
                <a:solidFill>
                  <a:srgbClr val="313337"/>
                </a:solidFill>
                <a:latin typeface="IBM Plex Mono"/>
              </a:rPr>
              <a:t>Intelligence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4306824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Rung one ships free; the paid tier is built, not yet sold.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489204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90">
                <a:solidFill>
                  <a:srgbClr val="A8A69E"/>
                </a:solidFill>
                <a:latin typeface="IBM Plex Mono"/>
              </a:rPr>
              <a:t>PRICING MODEL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14400" y="5093207"/>
            <a:ext cx="10362895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914400" y="5202936"/>
            <a:ext cx="23849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Platform subscription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5495544"/>
            <a:ext cx="1353312" cy="292608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96696" y="5550407"/>
            <a:ext cx="11887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73703" y="5202936"/>
            <a:ext cx="23849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Quote-desk seats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73703" y="5495544"/>
            <a:ext cx="1353312" cy="292608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5999" y="5550407"/>
            <a:ext cx="11887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33007" y="5202936"/>
            <a:ext cx="23849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SKU intelligence volume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3007" y="5495544"/>
            <a:ext cx="1353312" cy="292608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15303" y="5550407"/>
            <a:ext cx="11887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92311" y="5202936"/>
            <a:ext cx="23849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13337"/>
                </a:solidFill>
                <a:latin typeface="IBM Plex Sans"/>
              </a:rPr>
              <a:t>Premium modules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92311" y="5495544"/>
            <a:ext cx="1353312" cy="292608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74607" y="5550407"/>
            <a:ext cx="11887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60">
                <a:solidFill>
                  <a:srgbClr val="C8892A"/>
                </a:solidFill>
                <a:latin typeface="IBM Plex Mono"/>
              </a:rPr>
              <a:t>[ASSUMPTION]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13/14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Current Stage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1965960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1B4D7A"/>
                </a:solidFill>
                <a:latin typeface="IBM Plex Mono"/>
              </a:rPr>
              <a:t>BUILT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2221991"/>
            <a:ext cx="2357551" cy="0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914400" y="2368296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Parser — 11 families,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6,717 rows, 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3118104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Platform — 2,895 tests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648456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7 ERP connectors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178808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Role-gated economics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2847" y="1965960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1B4D7A"/>
                </a:solidFill>
                <a:latin typeface="IBM Plex Mono"/>
              </a:rPr>
              <a:t>IN PROGRESS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582847" y="2221991"/>
            <a:ext cx="2357552" cy="0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3582847" y="2368296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Second manufacturer pack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82847" y="2898648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Outcome Tracker beyond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four detectors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51295" y="1965960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1B4D7A"/>
                </a:solidFill>
                <a:latin typeface="IBM Plex Mono"/>
              </a:rPr>
              <a:t>VALIDATED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51295" y="2221991"/>
            <a:ext cx="2357552" cy="0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6251295" y="2368296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Live Zoho data · three entities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1295" y="2898648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Coverage: 21.6% of 15,028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items; 42.5% stocked Kennametal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51295" y="3648456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13337"/>
                </a:solidFill>
                <a:latin typeface="IBM Plex Sans"/>
              </a:rPr>
              <a:t>Determinism byte-verified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91727" y="1837943"/>
            <a:ext cx="2613583" cy="2944368"/>
          </a:xfrm>
          <a:prstGeom prst="rect">
            <a:avLst/>
          </a:prstGeom>
          <a:noFill/>
          <a:ln w="9525">
            <a:solidFill>
              <a:srgbClr val="C8892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19743" y="1965960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C8892A"/>
                </a:solidFill>
                <a:latin typeface="IBM Plex Mono"/>
              </a:rPr>
              <a:t>UNVALIDATED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919743" y="2221991"/>
            <a:ext cx="2357552" cy="0"/>
          </a:xfrm>
          <a:prstGeom prst="line">
            <a:avLst/>
          </a:prstGeom>
          <a:ln w="9525">
            <a:solidFill>
              <a:srgbClr val="C8892A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8919743" y="2368296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C8892A"/>
                </a:solidFill>
                <a:latin typeface="IBM Plex Sans"/>
              </a:rPr>
              <a:t>Willingness to pay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19743" y="2898648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C8892A"/>
                </a:solidFill>
                <a:latin typeface="IBM Plex Sans"/>
              </a:rPr>
              <a:t>Time saved per quote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9743" y="3429000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C8892A"/>
                </a:solidFill>
                <a:latin typeface="IBM Plex Sans"/>
              </a:rPr>
              <a:t>Margin impact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19743" y="3959352"/>
            <a:ext cx="2357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C8892A"/>
                </a:solidFill>
                <a:latin typeface="IBM Plex Sans"/>
              </a:rPr>
              <a:t>External customer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14400" y="5102352"/>
            <a:ext cx="10362895" cy="0"/>
          </a:xfrm>
          <a:prstGeom prst="line">
            <a:avLst/>
          </a:prstGeom>
          <a:ln w="6350">
            <a:solidFill>
              <a:srgbClr val="A8A69E"/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914400" y="5212080"/>
            <a:ext cx="10362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90">
                <a:solidFill>
                  <a:srgbClr val="A8A69E"/>
                </a:solidFill>
                <a:latin typeface="IBM Plex Mono"/>
              </a:rPr>
              <a:t>NO REVENUE · NO PARTNERS · NO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DDDCD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9615" y="6153912"/>
            <a:ext cx="4892040" cy="384048"/>
          </a:xfrm>
          <a:prstGeom prst="rect">
            <a:avLst/>
          </a:prstGeom>
          <a:noFill/>
          <a:ln w="9525">
            <a:solidFill>
              <a:srgbClr val="A8A6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0199" y="6153912"/>
            <a:ext cx="2404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PIE — PRODUCT INTELLIGENCE ENGINE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565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686239" y="6153912"/>
            <a:ext cx="1033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4U 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20095" y="6153912"/>
            <a:ext cx="0" cy="384048"/>
          </a:xfrm>
          <a:prstGeom prst="line">
            <a:avLst/>
          </a:prstGeom>
          <a:ln w="9525">
            <a:solidFill>
              <a:srgbClr val="A8A69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920679" y="615391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70">
                <a:solidFill>
                  <a:srgbClr val="A8A69E"/>
                </a:solidFill>
                <a:latin typeface="IBM Plex Mono"/>
              </a:rPr>
              <a:t>SHEET 14/14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71323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 spc="-45">
                <a:solidFill>
                  <a:srgbClr val="0E1116"/>
                </a:solidFill>
                <a:latin typeface="IBM Plex Sans"/>
              </a:rPr>
              <a:t>The thesis in five answers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2057399"/>
            <a:ext cx="10362895" cy="0"/>
          </a:xfrm>
          <a:prstGeom prst="line">
            <a:avLst/>
          </a:prstGeom>
          <a:ln w="13970">
            <a:solidFill>
              <a:srgbClr val="0E1116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233172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WHY THIS PROBLEM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39" y="2240279"/>
            <a:ext cx="72996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1B4D7A"/>
                </a:solidFill>
                <a:latin typeface="IBM Plex Sans"/>
              </a:rPr>
              <a:t>The quote is where margin is made, and it runs on memory.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2990087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WHY NOW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2898647"/>
            <a:ext cx="72996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1B4D7A"/>
                </a:solidFill>
                <a:latin typeface="IBM Plex Sans"/>
              </a:rPr>
              <a:t>Distributor ERPs are readable by API; models handle the ambiguous edge.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4400" y="2825495"/>
            <a:ext cx="10362895" cy="0"/>
          </a:xfrm>
          <a:prstGeom prst="line">
            <a:avLst/>
          </a:prstGeom>
          <a:ln w="5080">
            <a:solidFill>
              <a:srgbClr val="A8A69E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914400" y="364845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WHY PIE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77639" y="3557015"/>
            <a:ext cx="72996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1B4D7A"/>
                </a:solidFill>
                <a:latin typeface="IBM Plex Sans"/>
              </a:rPr>
              <a:t>Deterministic, auditable, with AI confined to where it helps.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14400" y="3483863"/>
            <a:ext cx="10362895" cy="0"/>
          </a:xfrm>
          <a:prstGeom prst="line">
            <a:avLst/>
          </a:prstGeom>
          <a:ln w="5080">
            <a:solidFill>
              <a:srgbClr val="A8A69E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914400" y="430682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WHY PIE WINS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7639" y="4215383"/>
            <a:ext cx="72996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1B4D7A"/>
                </a:solidFill>
                <a:latin typeface="IBM Plex Sans"/>
              </a:rPr>
              <a:t>The pack asset compounds; the engine is manufacturer-agnostic.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400" y="4142232"/>
            <a:ext cx="10362895" cy="0"/>
          </a:xfrm>
          <a:prstGeom prst="line">
            <a:avLst/>
          </a:prstGeom>
          <a:ln w="5080">
            <a:solidFill>
              <a:srgbClr val="A8A69E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914400" y="496519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90">
                <a:solidFill>
                  <a:srgbClr val="A8A69E"/>
                </a:solidFill>
                <a:latin typeface="IBM Plex Mono"/>
              </a:rPr>
              <a:t>WHY THIS GETS LARGE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39" y="4873751"/>
            <a:ext cx="72996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1B4D7A"/>
                </a:solidFill>
                <a:latin typeface="IBM Plex Sans"/>
              </a:rPr>
              <a:t>The same engine crosses categories without new code.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14400" y="4800600"/>
            <a:ext cx="10362895" cy="0"/>
          </a:xfrm>
          <a:prstGeom prst="line">
            <a:avLst/>
          </a:prstGeom>
          <a:ln w="5080">
            <a:solidFill>
              <a:srgbClr val="A8A69E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914400" y="5458968"/>
            <a:ext cx="10362895" cy="0"/>
          </a:xfrm>
          <a:prstGeom prst="line">
            <a:avLst/>
          </a:prstGeom>
          <a:ln w="13970">
            <a:solidFill>
              <a:srgbClr val="0E1116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
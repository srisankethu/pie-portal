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14400" y="239572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2560320"/>
            <a:ext cx="10362895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0" b="1" spc="-240">
                <a:solidFill>
                  <a:srgbClr val="0E1116"/>
                </a:solidFill>
                <a:latin typeface="IBM Plex Sans"/>
              </a:rPr>
              <a:t>PIE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675887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spc="320">
                <a:solidFill>
                  <a:srgbClr val="1B4D7A"/>
                </a:solidFill>
                <a:latin typeface="IBM Plex Sans"/>
              </a:rPr>
              <a:t>PRODUCT INTELLIGENCE ENGINE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31596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4553712"/>
            <a:ext cx="7863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ERP records the transaction. PIE understands the product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and decides what should happen.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50468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DETERMINISTIC PRODUCT INTELLIGENCE FOR B2B INDUSTRIAL DISTRIBUTION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2084831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DRAWING TITLE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6775" y="6153912"/>
            <a:ext cx="475488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7359" y="6153912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255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8726119" y="6153912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HYDERABAD, INDIA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4543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10454335" y="6153912"/>
            <a:ext cx="1417320" cy="38404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36631" y="6208776"/>
            <a:ext cx="1252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[STAGE]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 quote begins as a sentence, not a part number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874519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The request arrives unstructured. Everything after it is manual.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761488"/>
            <a:ext cx="10362895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RFQ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4255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QUOTE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417320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261872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61872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88731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Oval 57"/>
          <p:cNvSpPr/>
          <p:nvPr/>
        </p:nvSpPr>
        <p:spPr>
          <a:xfrm>
            <a:off x="3133283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33283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60142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Oval 60"/>
          <p:cNvSpPr/>
          <p:nvPr/>
        </p:nvSpPr>
        <p:spPr>
          <a:xfrm>
            <a:off x="5004694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04694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31553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Oval 63"/>
          <p:cNvSpPr/>
          <p:nvPr/>
        </p:nvSpPr>
        <p:spPr>
          <a:xfrm>
            <a:off x="6876105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76105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4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902964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Oval 66"/>
          <p:cNvSpPr/>
          <p:nvPr/>
        </p:nvSpPr>
        <p:spPr>
          <a:xfrm>
            <a:off x="8747516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47516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774375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Oval 69"/>
          <p:cNvSpPr/>
          <p:nvPr/>
        </p:nvSpPr>
        <p:spPr>
          <a:xfrm>
            <a:off x="10618927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18927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331012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FRICTION POINTS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3529584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98448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RFQ arrives — WhatsApp, email, PDF, photo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8448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Code decoded by hand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448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Item master searched — 15,028 items, name is not identity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5847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9895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No grade field — expert memory fills 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5847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79895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Cost and stock in another screen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5847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79895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Price set from memory or last invoice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4956048"/>
            <a:ext cx="2514600" cy="40233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6696" y="5010912"/>
            <a:ext cx="23500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ELAPSED: [TO VALIDATE]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ERP records transactions. It does not understand products.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95847" y="1929384"/>
            <a:ext cx="0" cy="280720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ERP KNOWS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9232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1207008" y="245973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SKU string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2976372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1207008" y="2843784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stock on hand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4400" y="3360420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207008" y="3227832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cost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744468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1207008" y="3611880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selling price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14400" y="4128515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207008" y="3995928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customer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14400" y="451256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1207008" y="437997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tax 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79895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A QUOTE NEEDS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79895" y="2601468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6772503" y="2459736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what the product physically is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479895" y="3076956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6772503" y="2935224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another product substitutes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79895" y="3552444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6772503" y="3410712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price holds margin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79895" y="4027932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6772503" y="3886200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customer justifies it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495604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510235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Measured on this item master: 1.4% of item names carry a recognisable grade token.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Grade is the attribute the decision runs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141732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SHEET 04 — THE INSIGHT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1700784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267712"/>
            <a:ext cx="8321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3000" b="0" spc="-35">
                <a:solidFill>
                  <a:srgbClr val="0E1116"/>
                </a:solidFill>
                <a:latin typeface="IBM Plex Sans"/>
              </a:rPr>
              <a:t>The bottleneck is not recording the order. It is turning an unstructured request into a technically correct, commercially actionable quote — and that step lives in one person's 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05/14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pipeline, ten stages, one legend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15184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2907792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71800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Parse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08576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6" name="Rectangle 55"/>
          <p:cNvSpPr/>
          <p:nvPr/>
        </p:nvSpPr>
        <p:spPr>
          <a:xfrm>
            <a:off x="4901184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5192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Classify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601968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9" name="Rectangle 58"/>
          <p:cNvSpPr/>
          <p:nvPr/>
        </p:nvSpPr>
        <p:spPr>
          <a:xfrm>
            <a:off x="6894576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58584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Normalize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95360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2" name="Rectangle 61"/>
          <p:cNvSpPr/>
          <p:nvPr/>
        </p:nvSpPr>
        <p:spPr>
          <a:xfrm>
            <a:off x="8887968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Exact match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Equivalents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615184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2907792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71800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Cost &amp;</a:t>
            </a:r>
          </a:p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availability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608576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4901184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65192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601968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6894576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58584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Recommendation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95360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6" name="Rectangle 75"/>
          <p:cNvSpPr/>
          <p:nvPr/>
        </p:nvSpPr>
        <p:spPr>
          <a:xfrm>
            <a:off x="8887968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51976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588752" y="2505456"/>
            <a:ext cx="962863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11551615" y="2505456"/>
            <a:ext cx="0" cy="740664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H="1">
            <a:off x="640080" y="3246120"/>
            <a:ext cx="10911535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640080" y="3246120"/>
            <a:ext cx="0" cy="740663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640080" y="3986783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3" name="Rectangle 82"/>
          <p:cNvSpPr/>
          <p:nvPr/>
        </p:nvSpPr>
        <p:spPr>
          <a:xfrm>
            <a:off x="914400" y="5047488"/>
            <a:ext cx="2487168" cy="566928"/>
          </a:xfrm>
          <a:prstGeom prst="rect">
            <a:avLst/>
          </a:prstGeom>
          <a:noFill/>
          <a:ln w="635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1042416" y="5239512"/>
            <a:ext cx="347472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1481328" y="516635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42416" y="5440679"/>
            <a:ext cx="347472" cy="0"/>
          </a:xfrm>
          <a:prstGeom prst="line">
            <a:avLst/>
          </a:prstGeom>
          <a:ln w="13970">
            <a:solidFill>
              <a:srgbClr val="1B4D7A"/>
            </a:solidFill>
            <a:prstDash val="dash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1481328" y="53675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03320" y="5047488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Eight of the ten stages are deterministic. Only intake and explanation are dashed. Every emitted field carries provenance, confidence, and a character span.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06/14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Same request in. Same quote out. Six steps removed.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90911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54919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75103" y="19659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TODAY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75103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39111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050569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3169441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33449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Decode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by hand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44906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4363778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27786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Search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master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39243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5558115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2123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Check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633580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6752452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16460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Look up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827917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7946789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797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Price from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memory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022254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9141126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05134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Type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700784" y="2651760"/>
            <a:ext cx="274319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10216591" y="2651760"/>
            <a:ext cx="274320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1975103" y="3611879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WITH PIE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751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391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Paste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026663" y="4297679"/>
            <a:ext cx="20116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1" name="Rectangle 80"/>
          <p:cNvSpPr/>
          <p:nvPr/>
        </p:nvSpPr>
        <p:spPr>
          <a:xfrm>
            <a:off x="3227831" y="3904487"/>
            <a:ext cx="4483303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1839" y="3950207"/>
            <a:ext cx="4355287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Resolved lines, ranked alternatives,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stock, cost, recommended price, margin flag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711135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79123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763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Review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963863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7" name="Rectangle 86"/>
          <p:cNvSpPr/>
          <p:nvPr/>
        </p:nvSpPr>
        <p:spPr>
          <a:xfrm>
            <a:off x="9165031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29039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Send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700784" y="4297679"/>
            <a:ext cx="27431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0216591" y="4297679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914400" y="51389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The human still approves every line. PIE removes the lookup, not the judgement.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5577840"/>
            <a:ext cx="4343400" cy="36576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" y="5632703"/>
            <a:ext cx="4178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[TO VALIDATE] MINUTES SAVED PER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07/14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line, end to 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728216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LIVE ENGINE OUTPUT · PACK KENNAMETAL_WIDIA V0.10.0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2020824"/>
            <a:ext cx="52806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spc="0">
                <a:solidFill>
                  <a:srgbClr val="0E1116"/>
                </a:solidFill>
                <a:latin typeface="IBM Plex Mono"/>
              </a:rPr>
              <a:t>CNMG 120408-49 - TN2000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51176"/>
            <a:ext cx="2057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01727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1017270" y="2880360"/>
            <a:ext cx="472846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60120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rhombic 80°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120140" y="2551176"/>
            <a:ext cx="2057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22301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1223010" y="2880360"/>
            <a:ext cx="1418539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2111552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clearance 0°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negative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325880" y="2551176"/>
            <a:ext cx="20573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42875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1428750" y="2880360"/>
            <a:ext cx="2364232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3262985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tolerance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class M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531619" y="2551176"/>
            <a:ext cx="20574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1634489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1634489" y="2880360"/>
            <a:ext cx="3309925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4414418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fixing type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43100" y="2551176"/>
            <a:ext cx="41147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148839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148839" y="2880360"/>
            <a:ext cx="3947008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5565851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edge length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12 mm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54579" y="2551176"/>
            <a:ext cx="41148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56032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560320" y="2880360"/>
            <a:ext cx="4686960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717284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thickness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4.76 mm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766060" y="2551176"/>
            <a:ext cx="41147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97180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971800" y="2880360"/>
            <a:ext cx="5426913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7868716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corner radius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0.8 mm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383279" y="2551176"/>
            <a:ext cx="41148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58902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3589020" y="2880360"/>
            <a:ext cx="5961126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9020149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chipbreaker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2920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5029200" y="2880360"/>
            <a:ext cx="5672378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0171582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grade — column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WIDIA legacy 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14400" y="422452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914400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8408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Identity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MM# 2001174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880360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Rectangle 90"/>
          <p:cNvSpPr/>
          <p:nvPr/>
        </p:nvSpPr>
        <p:spPr>
          <a:xfrm>
            <a:off x="3264408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28415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Zoho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 · landed cost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230368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4" name="Rectangle 93"/>
          <p:cNvSpPr/>
          <p:nvPr/>
        </p:nvSpPr>
        <p:spPr>
          <a:xfrm>
            <a:off x="5614416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78424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recommended · floor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580375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7" name="Rectangle 96"/>
          <p:cNvSpPr/>
          <p:nvPr/>
        </p:nvSpPr>
        <p:spPr>
          <a:xfrm>
            <a:off x="7964423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028431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1">
                <a:solidFill>
                  <a:srgbClr val="1B4D7A"/>
                </a:solidFill>
                <a:latin typeface="IBM Plex Mono"/>
              </a:rPr>
              <a:t>EXACT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5504688"/>
            <a:ext cx="8595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eight character spans are the engine's own output.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08/14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Correctness is deterministic.</a:t>
            </a:r>
          </a:p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Ambiguity is where AI earns its place.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NL RFQ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intake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1843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5851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Conversation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69286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33294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Explanation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96729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737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Exploration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24172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8180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Agent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configuration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20756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AI LAYER — OPTIONAL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095847" y="3026663"/>
            <a:ext cx="0" cy="621793"/>
          </a:xfrm>
          <a:prstGeom prst="line">
            <a:avLst/>
          </a:prstGeom>
          <a:ln w="9525">
            <a:solidFill>
              <a:srgbClr val="1B4D7A"/>
            </a:solidFill>
            <a:prstDash val="dash"/>
            <a:tailEnd type="triangle" w="med" len="med"/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05575" y="3191256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READS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Parsing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1832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8233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Classification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2225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8626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Attributes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618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9018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Equivalence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3010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411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403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804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3796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0196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374136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1B4D7A"/>
                </a:solidFill>
                <a:latin typeface="IBM Plex Mono"/>
              </a:rPr>
              <a:t>DETERMINISTIC ENGINE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8408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Leakage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68981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32989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Cost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Change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23562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87570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Risk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8143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42151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Price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Increase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2724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96732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Dead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687306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51314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Equivalent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Opportunity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 WATCHERS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35838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never computes a number. Every figure it states must trace to a supplied fact or the response is rejected and the deterministic reading is shown.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ships off by default — the engine underneath is the valuable half.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09/14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engine is manufacturer-agnostic by construction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185415"/>
            <a:ext cx="2788920" cy="347472"/>
          </a:xfrm>
          <a:prstGeom prst="rect">
            <a:avLst/>
          </a:prstGeom>
          <a:noFill/>
          <a:ln w="1778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31135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Cutting 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2615183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" y="2660903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Industrial tools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08860" y="2532887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914400" y="3044951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408" y="3090671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Bearings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308860" y="2962656"/>
            <a:ext cx="0" cy="82295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914400" y="3474720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3520439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Electrical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8860" y="3392424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914400" y="3904487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" y="3950207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MRO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308860" y="3822191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914400" y="4334255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4379975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Automation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308860" y="4251959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14400" y="4764023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" y="4809743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Fasteners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308860" y="4681727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914400" y="5193792"/>
            <a:ext cx="2788920" cy="347472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8408" y="5239512"/>
            <a:ext cx="266090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Consumables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08860" y="5111496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914400" y="1929384"/>
            <a:ext cx="2926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CATEGORY LADDER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06240" y="2148839"/>
            <a:ext cx="283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A new manufacturer is a new data pack. Zero manufacturer literals in the engine — tested, not asserted.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60920" y="1929384"/>
            <a:ext cx="3916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SIZED OPPORTUNITY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60920" y="2148839"/>
            <a:ext cx="3916375" cy="31272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25512" y="2313432"/>
            <a:ext cx="358719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TAM  =  A × B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SAM  =  TAM × C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SOM  =  SAM × D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525512" y="3264408"/>
            <a:ext cx="3587191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7525512" y="3429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6408" y="3392424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918704" y="3447288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81160" y="3433572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distributors in scope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25512" y="38587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836408" y="3822191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18704" y="3877055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81160" y="3863339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annual spend each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25512" y="428853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36408" y="4251960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18704" y="4306824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81160" y="4293108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share on a connected ERP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25512" y="47183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36408" y="4681728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18704" y="473659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81160" y="4722876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reachable in three years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10/14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layer between describing a product and quoting 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07568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7280" y="207568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60520" y="207568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records the transaction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257403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257403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60520" y="257403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describes the product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" y="3072384"/>
            <a:ext cx="9814255" cy="448056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600" y="3072384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50">
                <a:solidFill>
                  <a:srgbClr val="1B4D7A"/>
                </a:solidFill>
                <a:latin typeface="IBM Plex Mono"/>
              </a:rPr>
              <a:t>PIE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4840" y="3072384"/>
            <a:ext cx="638525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B4D7A"/>
                </a:solidFill>
                <a:latin typeface="IBM Plex Sans"/>
              </a:rPr>
              <a:t>understands it and recommends the decision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3570732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3570732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CPQ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0520" y="3570732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configures and issues the quote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069080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4069080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PRICING PLATFORMS (PRICEFX)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60520" y="4069080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optimise price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456742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56742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AI COPILOTS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456742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converse about it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06577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  <a:prstDash val="sys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7280" y="506577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SPREADSHEETS + MEMORY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60520" y="506577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actual incumbent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57058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C8892A"/>
                </a:solidFill>
                <a:latin typeface="IBM Plex Mono"/>
              </a:rPr>
              <a:t>REPLACES NOTHING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60520" y="5650992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It supplies the layer none of them owns.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71055" y="1783079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DASHED HERE = INFORMAL, NOT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11/14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asset is the decoded nomenclature, and it only accumulates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2245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42702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Manufacturer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naming grammars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13101" y="39502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77109" y="39959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Normalisation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2285085" y="42336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3911803" y="367588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75811" y="372160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Sourced pairwise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equivalence claims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783787" y="395935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5410504" y="340156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74512" y="344728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commercial data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5282488" y="368503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6909206" y="312724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73214" y="317296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outcomes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6781190" y="3410712"/>
            <a:ext cx="128016" cy="274319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8407908" y="28529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71916" y="28986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8279892" y="313639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906609" y="25786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70617" y="26243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Workflow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position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9778593" y="28620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914400" y="5065776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914400" y="5157216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COMPOUNDS WITH EVERY PACK, EVERY QUOTE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358384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Each manufacturer's code system is reverse-engineered once into a versioned pack: 11 families, 6,717 rows, all at 100%.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That structure is published nowhere — not a data-scale claim, but a specific artefact that took specification work to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Land on the quote desk. Expand into the commercial decision.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67247" y="1892807"/>
            <a:ext cx="0" cy="3063241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192938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PRICING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95144"/>
            <a:ext cx="458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Platform subscription per organization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2606039"/>
            <a:ext cx="1298448" cy="27432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" y="2660903"/>
            <a:ext cx="113385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2953511"/>
            <a:ext cx="4587087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3008376"/>
            <a:ext cx="458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Quote-desk seats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3319272"/>
            <a:ext cx="1298448" cy="27432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6696" y="3374136"/>
            <a:ext cx="113385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14400" y="3666744"/>
            <a:ext cx="4587087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914400" y="3721608"/>
            <a:ext cx="458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SKU intelligence volume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4032504"/>
            <a:ext cx="1298448" cy="27432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6696" y="4087368"/>
            <a:ext cx="113385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14400" y="4379976"/>
            <a:ext cx="4587087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914400" y="4434840"/>
            <a:ext cx="458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Premium modules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4745736"/>
            <a:ext cx="1298448" cy="27432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6696" y="4800599"/>
            <a:ext cx="113385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14400" y="5093207"/>
            <a:ext cx="4587087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6370167" y="192938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LAND AND EXPAND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70167" y="4590288"/>
            <a:ext cx="4907127" cy="365760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34175" y="4636007"/>
            <a:ext cx="477911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Quote Desk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70167" y="4133087"/>
            <a:ext cx="4907127" cy="365760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4175" y="4178807"/>
            <a:ext cx="477911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313337"/>
                </a:solidFill>
                <a:latin typeface="IBM Plex Mono"/>
              </a:rPr>
              <a:t>Product Intelligence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681063" y="4498848"/>
            <a:ext cx="0" cy="9144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6370167" y="3675887"/>
            <a:ext cx="4907127" cy="365760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34175" y="3721607"/>
            <a:ext cx="477911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681063" y="4041648"/>
            <a:ext cx="0" cy="91439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6370167" y="3218687"/>
            <a:ext cx="4907127" cy="365760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34175" y="3264407"/>
            <a:ext cx="477911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313337"/>
                </a:solidFill>
                <a:latin typeface="IBM Plex Mono"/>
              </a:rPr>
              <a:t>Margin Management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681063" y="3584447"/>
            <a:ext cx="0" cy="9144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6370167" y="2761487"/>
            <a:ext cx="4907127" cy="365760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34175" y="2807207"/>
            <a:ext cx="477911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313337"/>
                </a:solidFill>
                <a:latin typeface="IBM Plex Mono"/>
              </a:rPr>
              <a:t>Agents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681063" y="3127247"/>
            <a:ext cx="0" cy="9144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3" name="Rectangle 82"/>
          <p:cNvSpPr/>
          <p:nvPr/>
        </p:nvSpPr>
        <p:spPr>
          <a:xfrm>
            <a:off x="6370167" y="2304287"/>
            <a:ext cx="4907127" cy="365760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34175" y="2350007"/>
            <a:ext cx="477911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313337"/>
                </a:solidFill>
                <a:latin typeface="IBM Plex Mono"/>
              </a:rPr>
              <a:t>Commercial Intelligence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681063" y="2670047"/>
            <a:ext cx="0" cy="9144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914400" y="5303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quote desk is the wedge because it is where a distributor already feels the pain daily and where the value is legible in one session. Price points are unvalidated.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Current Stage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BUILT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221991"/>
            <a:ext cx="2357551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Parser — 11 families,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6,717 rows, 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3118104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Platform — 2,895 tests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7 ERP connectors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17880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Role-gated economics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82847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IN PROGRESS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582847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3582847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Second manufacturer pack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82847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Outcome Tracker beyond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four detectors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1295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VALIDATED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251295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51295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Live Zoho data · three entities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1295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Coverage: 21.6% of 15,028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items; 42.5% stocked Kennametal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51295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Determinism byte-verified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91727" y="1837943"/>
            <a:ext cx="2613583" cy="294436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19743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C8892A"/>
                </a:solidFill>
                <a:latin typeface="IBM Plex Mono"/>
              </a:rPr>
              <a:t>UNVALIDATED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919743" y="2221991"/>
            <a:ext cx="2357552" cy="0"/>
          </a:xfrm>
          <a:prstGeom prst="line">
            <a:avLst/>
          </a:prstGeom>
          <a:ln w="9525">
            <a:solidFill>
              <a:srgbClr val="C8892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8919743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Willingness to pay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19743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Time saved per quote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9743" y="3429000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Margin impact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19743" y="3959352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External customer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14400" y="5102352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914400" y="5212080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NO REVENUE · NO PARTNERS · NO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thesis in five answers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2057399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3317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PROBLEM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77639" y="2240279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quote is where margin is made, and it runs on memory.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29900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898647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Distributor ERPs are readable by API; models handle the ambiguous edge.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2825495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36484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39" y="3557015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Deterministic, auditable, with AI confined to where it helps.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483863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14400" y="430682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 WINS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39" y="4215383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pack asset compounds; the engine is manufacturer-agnostic.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4400" y="4142232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914400" y="496519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GETS LARGE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7639" y="4873751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same engine crosses categories without new code.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14400" y="4800600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914400" y="5458968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
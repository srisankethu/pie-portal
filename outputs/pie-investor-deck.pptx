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914400" y="2395728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914400" y="2560320"/>
            <a:ext cx="10362895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0" b="1" spc="-240">
                <a:solidFill>
                  <a:srgbClr val="0E1116"/>
                </a:solidFill>
                <a:latin typeface="IBM Plex Sans"/>
              </a:rPr>
              <a:t>PIE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3675887"/>
            <a:ext cx="103628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spc="320">
                <a:solidFill>
                  <a:srgbClr val="1B4D7A"/>
                </a:solidFill>
                <a:latin typeface="IBM Plex Sans"/>
              </a:rPr>
              <a:t>PRODUCT INTELLIGENCE ENGINE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4315968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914400" y="4553712"/>
            <a:ext cx="7863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ERP records the transaction. PIE understands the product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and decides what should happen.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50468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DETERMINISTIC PRODUCT INTELLIGENCE FOR B2B INDUSTRIAL DISTRIBUTION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2084831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DRAWING TITLE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16775" y="6153912"/>
            <a:ext cx="475488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17359" y="6153912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62553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8726119" y="6153912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HYDERABAD, INDIA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045433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10454335" y="6153912"/>
            <a:ext cx="1417320" cy="38404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36631" y="6208776"/>
            <a:ext cx="1252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[STAGE]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02/14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A quote begins as a sentence, not a part number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874519"/>
            <a:ext cx="103628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The request arrives unstructured. Everything after it is manual.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2761488"/>
            <a:ext cx="10362895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2450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90">
                <a:solidFill>
                  <a:srgbClr val="1B4D7A"/>
                </a:solidFill>
                <a:latin typeface="IBM Plex Mono"/>
              </a:rPr>
              <a:t>RFQ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14255" y="2450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90">
                <a:solidFill>
                  <a:srgbClr val="1B4D7A"/>
                </a:solidFill>
                <a:latin typeface="IBM Plex Mono"/>
              </a:rPr>
              <a:t>QUOTE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417320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261872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61872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1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88731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8" name="Oval 57"/>
          <p:cNvSpPr/>
          <p:nvPr/>
        </p:nvSpPr>
        <p:spPr>
          <a:xfrm>
            <a:off x="3133283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33283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160142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Oval 60"/>
          <p:cNvSpPr/>
          <p:nvPr/>
        </p:nvSpPr>
        <p:spPr>
          <a:xfrm>
            <a:off x="5004694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04694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3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31553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4" name="Oval 63"/>
          <p:cNvSpPr/>
          <p:nvPr/>
        </p:nvSpPr>
        <p:spPr>
          <a:xfrm>
            <a:off x="6876105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76105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4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902964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Oval 66"/>
          <p:cNvSpPr/>
          <p:nvPr/>
        </p:nvSpPr>
        <p:spPr>
          <a:xfrm>
            <a:off x="8747516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47516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5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0774375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0" name="Oval 69"/>
          <p:cNvSpPr/>
          <p:nvPr/>
        </p:nvSpPr>
        <p:spPr>
          <a:xfrm>
            <a:off x="10618927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18927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331012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FRICTION POINTS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14400" y="3529584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914400" y="368960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98448" y="3625596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RFQ arrives — WhatsApp, email, PDF, photo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" y="4091939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98448" y="4027932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Code decoded by hand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4400" y="449427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98448" y="4430268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Item master searched — 15,028 items, name is not identity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5847" y="368960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79895" y="3625596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No grade field — expert memory fills it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5847" y="4091939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79895" y="4027932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Cost and stock in another screen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5847" y="449427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79895" y="4430268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Price set from memory; floor unknown at the moment of discount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4956048"/>
            <a:ext cx="2514600" cy="40233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96696" y="5010912"/>
            <a:ext cx="23500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ELAPSED: [TO VALIDATE]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03/14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ERP records transactions. It does not understand products.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95847" y="1929384"/>
            <a:ext cx="0" cy="280720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03911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WHAT ERP KNOWS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14400" y="2592324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1207008" y="2459736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SKU string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14400" y="2976372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1207008" y="2843784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stock on hand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4400" y="3360420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7" name="TextBox 56"/>
          <p:cNvSpPr txBox="1"/>
          <p:nvPr/>
        </p:nvSpPr>
        <p:spPr>
          <a:xfrm>
            <a:off x="1207008" y="3227832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last cost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4400" y="3744468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1207008" y="3611880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last selling price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14400" y="4128515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207008" y="3995928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customer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14400" y="4512564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1207008" y="4379976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tax code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79895" y="203911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WHAT A QUOTE NEEDS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79895" y="2601468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66" name="TextBox 65"/>
          <p:cNvSpPr txBox="1"/>
          <p:nvPr/>
        </p:nvSpPr>
        <p:spPr>
          <a:xfrm>
            <a:off x="6772503" y="2459736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what the product physically is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479895" y="3076956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6772503" y="2935224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another product substitutes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79895" y="3552444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6772503" y="3410712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this price holds margin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79895" y="4027932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72" name="TextBox 71"/>
          <p:cNvSpPr txBox="1"/>
          <p:nvPr/>
        </p:nvSpPr>
        <p:spPr>
          <a:xfrm>
            <a:off x="6772503" y="3886200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this customer justifies it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14400" y="4956048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914400" y="5102352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Measured on this item master: 1.4% of item names carry a recognisable grade token.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Grade is the attribute the decision runs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04/14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141732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SHEET 04 — THE INSIGHT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1700784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267712"/>
            <a:ext cx="8321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3000" b="0" spc="-35">
                <a:solidFill>
                  <a:srgbClr val="0E1116"/>
                </a:solidFill>
                <a:latin typeface="IBM Plex Sans"/>
              </a:rPr>
              <a:t>The bottleneck is not recording the order. It is turning an unstructured request into a technically correct, commercially actionable quote — and that step lives in one person's head.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05/14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One pipeline, ten stages, one legend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RFQ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615184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2907792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71800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Parse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08576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6" name="Rectangle 55"/>
          <p:cNvSpPr/>
          <p:nvPr/>
        </p:nvSpPr>
        <p:spPr>
          <a:xfrm>
            <a:off x="4901184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5192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Classify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601968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9" name="Rectangle 58"/>
          <p:cNvSpPr/>
          <p:nvPr/>
        </p:nvSpPr>
        <p:spPr>
          <a:xfrm>
            <a:off x="6894576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58584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Normalize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95360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2" name="Rectangle 61"/>
          <p:cNvSpPr/>
          <p:nvPr/>
        </p:nvSpPr>
        <p:spPr>
          <a:xfrm>
            <a:off x="8887968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1976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Exact match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Equivalents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615184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2907792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71800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Cost &amp;</a:t>
            </a:r>
          </a:p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availability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608576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4901184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65192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Margin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601968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6894576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58584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Recommendation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595360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6" name="Rectangle 75"/>
          <p:cNvSpPr/>
          <p:nvPr/>
        </p:nvSpPr>
        <p:spPr>
          <a:xfrm>
            <a:off x="8887968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951976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ERP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588752" y="2505456"/>
            <a:ext cx="962863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11551615" y="2505456"/>
            <a:ext cx="0" cy="740664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H="1">
            <a:off x="640080" y="3246120"/>
            <a:ext cx="10911535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640080" y="3246120"/>
            <a:ext cx="0" cy="740663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640080" y="3986783"/>
            <a:ext cx="274320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3" name="Rectangle 82"/>
          <p:cNvSpPr/>
          <p:nvPr/>
        </p:nvSpPr>
        <p:spPr>
          <a:xfrm>
            <a:off x="914400" y="5047488"/>
            <a:ext cx="2487168" cy="566928"/>
          </a:xfrm>
          <a:prstGeom prst="rect">
            <a:avLst/>
          </a:prstGeom>
          <a:noFill/>
          <a:ln w="635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1042416" y="5239512"/>
            <a:ext cx="347472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1481328" y="5166359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DETERMINISTIC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42416" y="5440679"/>
            <a:ext cx="347472" cy="0"/>
          </a:xfrm>
          <a:prstGeom prst="line">
            <a:avLst/>
          </a:prstGeom>
          <a:ln w="13970">
            <a:solidFill>
              <a:srgbClr val="1B4D7A"/>
            </a:solidFill>
            <a:prstDash val="dash"/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1481328" y="5367527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AI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03320" y="5047488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Eight of the ten stages are deterministic. Only intake and explanation are dashed. Every emitted field carries provenance, confidence, and a character span.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06/14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Same request in. Same quote out. Six steps removed.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240279"/>
            <a:ext cx="786384" cy="2450592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285999"/>
            <a:ext cx="658368" cy="23591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1">
                <a:solidFill>
                  <a:srgbClr val="313337"/>
                </a:solidFill>
                <a:latin typeface="IBM Plex Mono"/>
              </a:rPr>
              <a:t>RFQ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490911" y="2240279"/>
            <a:ext cx="786384" cy="2450592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54919" y="2285999"/>
            <a:ext cx="658368" cy="23591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1">
                <a:solidFill>
                  <a:srgbClr val="313337"/>
                </a:solidFill>
                <a:latin typeface="IBM Plex Mono"/>
              </a:rPr>
              <a:t>Quote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75103" y="196596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TODAY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75103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39111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Read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050569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3169441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33449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Decode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by hand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44906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4363778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27786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Search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master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39243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5558115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2123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Check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stock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633580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6752452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16460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Look up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827917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7946789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10797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Price from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memory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022254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9141126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205134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Type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quote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700784" y="2651760"/>
            <a:ext cx="274319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10216591" y="2651760"/>
            <a:ext cx="274320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7" name="TextBox 76"/>
          <p:cNvSpPr txBox="1"/>
          <p:nvPr/>
        </p:nvSpPr>
        <p:spPr>
          <a:xfrm>
            <a:off x="1975103" y="3611879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WITH PIE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75103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39111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Paste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026663" y="4297679"/>
            <a:ext cx="201169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1" name="Rectangle 80"/>
          <p:cNvSpPr/>
          <p:nvPr/>
        </p:nvSpPr>
        <p:spPr>
          <a:xfrm>
            <a:off x="3227831" y="3904487"/>
            <a:ext cx="4483303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91839" y="3950207"/>
            <a:ext cx="4355287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Resolved lines, ranked alternatives,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stock, cost, recommended price, margin flag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7711135" y="4297679"/>
            <a:ext cx="20116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4" name="Rectangle 83"/>
          <p:cNvSpPr/>
          <p:nvPr/>
        </p:nvSpPr>
        <p:spPr>
          <a:xfrm>
            <a:off x="7912303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976311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Review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963863" y="4297679"/>
            <a:ext cx="20116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7" name="Rectangle 86"/>
          <p:cNvSpPr/>
          <p:nvPr/>
        </p:nvSpPr>
        <p:spPr>
          <a:xfrm>
            <a:off x="9165031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29039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Send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700784" y="4297679"/>
            <a:ext cx="274319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10216591" y="4297679"/>
            <a:ext cx="274320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914400" y="5047488"/>
            <a:ext cx="96926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The human still approves every line. PIE removes the lookup, not the judgement — and no line leaves below floor.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5596128"/>
            <a:ext cx="4343400" cy="347472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6696" y="5650992"/>
            <a:ext cx="41788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[TO VALIDATE] MINUTES SAVED PER 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07/14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One line, end to 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728216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LIVE ENGINE OUTPUT · PACK KENNAMETAL_WIDIA V0.10.0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2020824"/>
            <a:ext cx="4404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spc="0">
                <a:solidFill>
                  <a:srgbClr val="0E1116"/>
                </a:solidFill>
                <a:latin typeface="IBM Plex Mono"/>
              </a:rPr>
              <a:t>CNMG 120408-49 - TN2000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14400" y="2459736"/>
            <a:ext cx="16764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998219" y="2478024"/>
            <a:ext cx="0" cy="25603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998219" y="2734056"/>
            <a:ext cx="491897" cy="21031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60120" y="2990088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rhombic 80°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82040" y="2459736"/>
            <a:ext cx="16764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1165860" y="2478024"/>
            <a:ext cx="0" cy="25603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1165860" y="2734056"/>
            <a:ext cx="1475689" cy="21031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2111552" y="2990088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clearance 0°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negative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249680" y="2459736"/>
            <a:ext cx="16763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333500" y="2478024"/>
            <a:ext cx="0" cy="25603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1333500" y="2734056"/>
            <a:ext cx="2459482" cy="21031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3262985" y="2990088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tolerance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class M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417319" y="2459736"/>
            <a:ext cx="167641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1501140" y="2478024"/>
            <a:ext cx="0" cy="25603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1501140" y="2734056"/>
            <a:ext cx="3443274" cy="21031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TextBox 66"/>
          <p:cNvSpPr txBox="1"/>
          <p:nvPr/>
        </p:nvSpPr>
        <p:spPr>
          <a:xfrm>
            <a:off x="4414418" y="2990088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fixing type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752599" y="2459736"/>
            <a:ext cx="335281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1920239" y="2478024"/>
            <a:ext cx="0" cy="25603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1920239" y="2734056"/>
            <a:ext cx="4175608" cy="21031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5565851" y="2990088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edge length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12 mm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087880" y="2459736"/>
            <a:ext cx="33528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255520" y="2478024"/>
            <a:ext cx="0" cy="25603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255520" y="2734056"/>
            <a:ext cx="4991760" cy="21031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717284" y="2990088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thickness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4.76 mm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423160" y="2459736"/>
            <a:ext cx="33528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590799" y="2478024"/>
            <a:ext cx="0" cy="25603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590799" y="2734056"/>
            <a:ext cx="5807914" cy="21031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7868716" y="2990088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corner radius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0.8 mm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926079" y="2459736"/>
            <a:ext cx="335281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093720" y="2478024"/>
            <a:ext cx="0" cy="25603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3093720" y="2734056"/>
            <a:ext cx="6456426" cy="21031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9020149" y="2990088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chipbreaker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4267199" y="2478024"/>
            <a:ext cx="0" cy="25603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4267199" y="2734056"/>
            <a:ext cx="6434379" cy="210312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0171582" y="2990088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grade — column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WIDIA legacy 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" y="3712463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WHAT THE DESK GETS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914400" y="3931920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9" name="Rectangle 88"/>
          <p:cNvSpPr/>
          <p:nvPr/>
        </p:nvSpPr>
        <p:spPr>
          <a:xfrm>
            <a:off x="914400" y="4133087"/>
            <a:ext cx="2304288" cy="859536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78408" y="4178807"/>
            <a:ext cx="2176272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>
                <a:solidFill>
                  <a:srgbClr val="313337"/>
                </a:solidFill>
                <a:latin typeface="IBM Plex Mono"/>
              </a:rPr>
              <a:t>Identity</a:t>
            </a:r>
          </a:p>
          <a:p>
            <a:pPr algn="ctr">
              <a:lnSpc>
                <a:spcPct val="112000"/>
              </a:lnSpc>
            </a:pPr>
            <a:r>
              <a:rPr sz="1000" b="0">
                <a:solidFill>
                  <a:srgbClr val="313337"/>
                </a:solidFill>
                <a:latin typeface="IBM Plex Mono"/>
              </a:rPr>
              <a:t>MM# 2001174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218688" y="4562855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2" name="Rectangle 91"/>
          <p:cNvSpPr/>
          <p:nvPr/>
        </p:nvSpPr>
        <p:spPr>
          <a:xfrm>
            <a:off x="3602736" y="4133087"/>
            <a:ext cx="2304288" cy="859536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66744" y="4178807"/>
            <a:ext cx="2176272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>
                <a:solidFill>
                  <a:srgbClr val="313337"/>
                </a:solidFill>
                <a:latin typeface="IBM Plex Mono"/>
              </a:rPr>
              <a:t>Availability</a:t>
            </a:r>
          </a:p>
          <a:p>
            <a:pPr algn="ctr">
              <a:lnSpc>
                <a:spcPct val="112000"/>
              </a:lnSpc>
            </a:pPr>
            <a:r>
              <a:rPr sz="1000" b="0">
                <a:solidFill>
                  <a:srgbClr val="313337"/>
                </a:solidFill>
                <a:latin typeface="IBM Plex Mono"/>
              </a:rPr>
              <a:t>stock · landed cost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907024" y="4562855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5" name="Rectangle 94"/>
          <p:cNvSpPr/>
          <p:nvPr/>
        </p:nvSpPr>
        <p:spPr>
          <a:xfrm>
            <a:off x="6291072" y="4133087"/>
            <a:ext cx="2304288" cy="859536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55080" y="4178807"/>
            <a:ext cx="2176272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>
                <a:solidFill>
                  <a:srgbClr val="313337"/>
                </a:solidFill>
                <a:latin typeface="IBM Plex Mono"/>
              </a:rPr>
              <a:t>Recommended</a:t>
            </a:r>
          </a:p>
          <a:p>
            <a:pPr algn="ctr">
              <a:lnSpc>
                <a:spcPct val="112000"/>
              </a:lnSpc>
            </a:pPr>
            <a:r>
              <a:rPr sz="1000" b="0">
                <a:solidFill>
                  <a:srgbClr val="313337"/>
                </a:solidFill>
                <a:latin typeface="IBM Plex Mono"/>
              </a:rPr>
              <a:t>price · floor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8595360" y="4562855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8" name="Rectangle 97"/>
          <p:cNvSpPr/>
          <p:nvPr/>
        </p:nvSpPr>
        <p:spPr>
          <a:xfrm>
            <a:off x="8979408" y="4133087"/>
            <a:ext cx="2304288" cy="859536"/>
          </a:xfrm>
          <a:prstGeom prst="rect">
            <a:avLst/>
          </a:prstGeom>
          <a:noFill/>
          <a:ln w="1905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043416" y="4178807"/>
            <a:ext cx="2176272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1B4D7A"/>
                </a:solidFill>
                <a:latin typeface="IBM Plex Mono"/>
              </a:rPr>
              <a:t>Margin</a:t>
            </a:r>
          </a:p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1B4D7A"/>
                </a:solidFill>
                <a:latin typeface="IBM Plex Mono"/>
              </a:rPr>
              <a:t>position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4400" y="5230368"/>
            <a:ext cx="9692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The eight spans are the engine's own output.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08/14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Correctness is deterministic.</a:t>
            </a:r>
          </a:p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Ambiguity is where AI earns its place.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NL RFQ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intake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1843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05851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Conversation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69286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33294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Explanation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96729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60737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Exploration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24172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88180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Agent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configuration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" y="207568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AI LAYER — OPTIONAL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095847" y="3026663"/>
            <a:ext cx="0" cy="621793"/>
          </a:xfrm>
          <a:prstGeom prst="line">
            <a:avLst/>
          </a:prstGeom>
          <a:ln w="9525">
            <a:solidFill>
              <a:srgbClr val="1B4D7A"/>
            </a:solidFill>
            <a:prstDash val="dash"/>
            <a:tailEnd type="triangle" w="med" len="med"/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6205575" y="3191256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READS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840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Parsing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18326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82334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Classification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22253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86261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Attributes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2618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9018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Equivalence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30106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94114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Pricing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34033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98041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Margin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3796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00196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Policy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" y="3374136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1B4D7A"/>
                </a:solidFill>
                <a:latin typeface="IBM Plex Mono"/>
              </a:rPr>
              <a:t>DETERMINISTIC ENGINE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0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78408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Margin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Leakage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668981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32989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Cost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Change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23562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487570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Quote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Risk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8143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42151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Price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Increase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32724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96732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Dead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Stock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687306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51314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Equivalent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Opportunity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43484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DETERMINISTIC WATCHERS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" y="535838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AI never computes a number. Every figure it states must trace to a supplied fact or the response is rejected and the deterministic reading is shown.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AI ships off by default — the engine underneath is the valuable half.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09/14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engine is manufacturer-agnostic by construction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203703"/>
            <a:ext cx="2788920" cy="338328"/>
          </a:xfrm>
          <a:prstGeom prst="rect">
            <a:avLst/>
          </a:prstGeom>
          <a:noFill/>
          <a:ln w="1778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249423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Cutting 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2624327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8" y="2670047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Bearings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08860" y="2542032"/>
            <a:ext cx="0" cy="82295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914400" y="3044951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8408" y="3090671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Electrical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308860" y="2962656"/>
            <a:ext cx="0" cy="82295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914400" y="3465576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8408" y="3511296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MRO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8860" y="3383280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914400" y="3886200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" y="3931920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Automation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308860" y="3803904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914400" y="4306824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" y="4352544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Fasteners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308860" y="4224528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914400" y="4727448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8" y="4773168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Industrial consumables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308860" y="4645152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914400" y="196596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WHERE THE SAME CONVERGENCE APPEARS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06240" y="2203703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New manufacturer, unchanged engine.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New category also needs a standards decoder.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60920" y="1929384"/>
            <a:ext cx="3916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SIZED OPPORTUNITY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60920" y="2148839"/>
            <a:ext cx="3916375" cy="31272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25512" y="2295144"/>
            <a:ext cx="358719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TAM  =  A × B      =  $720M</a:t>
            </a:r>
          </a:p>
          <a:p>
            <a:pPr algn="l">
              <a:lnSpc>
                <a:spcPct val="142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SAM  =  TAM × C    =  $324M</a:t>
            </a:r>
          </a:p>
          <a:p>
            <a:pPr algn="l">
              <a:lnSpc>
                <a:spcPct val="142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SOM  =  SAM × D    =  $9.7M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525512" y="3246120"/>
            <a:ext cx="3587191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7525512" y="3337560"/>
            <a:ext cx="35871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C8892A"/>
                </a:solidFill>
                <a:latin typeface="IBM Plex Mono"/>
              </a:rPr>
              <a:t>ALL INPUTS [ASSUMPTION]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25512" y="36301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36408" y="3593591"/>
            <a:ext cx="932688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918704" y="3648456"/>
            <a:ext cx="7680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40,000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78824" y="3630168"/>
            <a:ext cx="2233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distributors in scope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25512" y="40325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836408" y="3995928"/>
            <a:ext cx="932688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918704" y="4050791"/>
            <a:ext cx="7680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$18,000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78824" y="4032504"/>
            <a:ext cx="2233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spend each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25512" y="44348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C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36408" y="4398264"/>
            <a:ext cx="932688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18704" y="4453127"/>
            <a:ext cx="7680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45%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878824" y="4434840"/>
            <a:ext cx="2233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on connected ERP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25512" y="483717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36408" y="4800600"/>
            <a:ext cx="932688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18704" y="4855464"/>
            <a:ext cx="76809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3%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878824" y="4837176"/>
            <a:ext cx="2233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reachable, three years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10/14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layer between describing a product and quoting 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075688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7280" y="2075688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ERP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60520" y="2075688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records the transaction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2574036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2574036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PIM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60520" y="2574036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describes the product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" y="3072384"/>
            <a:ext cx="9814255" cy="448056"/>
          </a:xfrm>
          <a:prstGeom prst="rect">
            <a:avLst/>
          </a:prstGeom>
          <a:noFill/>
          <a:ln w="1905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1600" y="3072384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50">
                <a:solidFill>
                  <a:srgbClr val="1B4D7A"/>
                </a:solidFill>
                <a:latin typeface="IBM Plex Mono"/>
              </a:rPr>
              <a:t>PIE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4840" y="3072384"/>
            <a:ext cx="638525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B4D7A"/>
                </a:solidFill>
                <a:latin typeface="IBM Plex Sans"/>
              </a:rPr>
              <a:t>understands it and recommends the decision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3570732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7280" y="3570732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CPQ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0520" y="3570732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configures and issues the quote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069080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7280" y="4069080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PRICING PLATFORMS (PRICEFX)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60520" y="4069080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optimise price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400" y="4567428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567428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AI COPILOTS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4567428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converse about it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065776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  <a:prstDash val="sys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97280" y="5065776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SPREADSHEETS + MEMORY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60520" y="5065776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the actual incumbent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4400" y="570585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90">
                <a:solidFill>
                  <a:srgbClr val="C8892A"/>
                </a:solidFill>
                <a:latin typeface="IBM Plex Mono"/>
              </a:rPr>
              <a:t>REPLACES NOTHING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60520" y="5650992"/>
            <a:ext cx="6400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It supplies the layer none of them owns.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71055" y="1783079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DASHED HERE = INFORMAL, NOT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11/14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asset is the decoded nomenclature, and it only accumulates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422452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427024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Manufacturer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naming grammars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13101" y="395020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77109" y="399592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Normalisation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2285085" y="423367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3911803" y="367588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75811" y="372160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Sourced pairwise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equivalence claims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783787" y="395935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5410504" y="340156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74512" y="344728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Distributor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commercial data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5282488" y="368503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6909206" y="312724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73214" y="317296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Quote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outcomes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6781190" y="3410712"/>
            <a:ext cx="128016" cy="274319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8407908" y="285292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71916" y="289864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Pricing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policy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8279892" y="313639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9906609" y="257860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70617" y="262432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Workflow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position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9778593" y="286207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914400" y="5065776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914400" y="5157216"/>
            <a:ext cx="103628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COMPOUNDS WITH EVERY PACK, EVERY QUOTE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358384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Each manufacturer's code system is reverse-engineered once into a versioned pack: 11 families, 6,717 rows, all at 100%.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That structure is published nowhere — not a data-scale claim, but a specific artefact that took specification work to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12/14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Land on the quote desk. Expand into the commercial decision.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938527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WHO — THE SCREEN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High SKU count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8981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32989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Technically complex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23562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7570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Quote volume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78143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42151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Margin-sensitive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32724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96732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Hours lost searching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87306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51314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Connector ERP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26334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pain is the convergence, not one signal.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" y="3072384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HOW IT LANDS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3291839"/>
            <a:ext cx="103628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Founder-led. Owner or sales head, triggered by a price increase or a departing expert.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3749039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HOW IT GROWS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3968496"/>
            <a:ext cx="1529029" cy="512064"/>
          </a:xfrm>
          <a:prstGeom prst="rect">
            <a:avLst/>
          </a:prstGeom>
          <a:noFill/>
          <a:ln w="1905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8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1B4D7A"/>
                </a:solidFill>
                <a:latin typeface="IBM Plex Mono"/>
              </a:rPr>
              <a:t>Quote Desk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443429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2681173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5181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Product</a:t>
            </a:r>
          </a:p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Intelligence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210202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4447946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11954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Pricing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976975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6" name="Rectangle 75"/>
          <p:cNvSpPr/>
          <p:nvPr/>
        </p:nvSpPr>
        <p:spPr>
          <a:xfrm>
            <a:off x="6214719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78727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Margin</a:t>
            </a:r>
          </a:p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Management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743748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9" name="Rectangle 78"/>
          <p:cNvSpPr/>
          <p:nvPr/>
        </p:nvSpPr>
        <p:spPr>
          <a:xfrm>
            <a:off x="7981492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5500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Agents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510521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2" name="Rectangle 81"/>
          <p:cNvSpPr/>
          <p:nvPr/>
        </p:nvSpPr>
        <p:spPr>
          <a:xfrm>
            <a:off x="9748266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812274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Commercial</a:t>
            </a:r>
          </a:p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Intelligence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457200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Rung one ships free; the paid tier is built, unsold.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5010912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PRICING MODEL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914400" y="5212080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914400" y="5321808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Platform subscription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14400" y="5614416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6696" y="5669280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73703" y="5321808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Quote-desk seats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73703" y="5614416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55999" y="5669280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33007" y="5321808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SKU intelligence volume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233007" y="5614416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15303" y="5669280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892311" y="5321808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Premium modules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892311" y="5614416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74607" y="5669280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13/14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Current Stage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BUILT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2221991"/>
            <a:ext cx="2357551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Parser — 11 families,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6,717 rows, 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3118104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Platform — 2,895 tests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364845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7 ERP connectors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417880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Role-gated economics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82847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IN PROGRESS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582847" y="2221991"/>
            <a:ext cx="2357552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3582847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Second manufacturer pack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82847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Outcome Tracker beyond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four detectors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1295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VALIDATED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251295" y="2221991"/>
            <a:ext cx="2357552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6251295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Live Zoho data · three entities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51295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Coverage: 21.6% of 15,028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items; 42.5% stocked Kennametal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51295" y="364845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Determinism byte-verified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91727" y="1837943"/>
            <a:ext cx="2613583" cy="294436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19743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C8892A"/>
                </a:solidFill>
                <a:latin typeface="IBM Plex Mono"/>
              </a:rPr>
              <a:t>UNVALIDATED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919743" y="2221991"/>
            <a:ext cx="2357552" cy="0"/>
          </a:xfrm>
          <a:prstGeom prst="line">
            <a:avLst/>
          </a:prstGeom>
          <a:ln w="9525">
            <a:solidFill>
              <a:srgbClr val="C8892A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8919743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Willingness to pay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19743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Time saved per quote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9743" y="3429000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Margin impact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19743" y="3959352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External customer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14400" y="5102352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914400" y="5212080"/>
            <a:ext cx="103628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NO REVENUE · NO PARTNERS · NO PIPELINE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14/14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thesis in five answers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2057399"/>
            <a:ext cx="10362895" cy="0"/>
          </a:xfrm>
          <a:prstGeom prst="line">
            <a:avLst/>
          </a:prstGeom>
          <a:ln w="13970">
            <a:solidFill>
              <a:srgbClr val="0E1116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33172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THIS PROBLEM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77639" y="2240279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quote is where margin is made, and it runs on memory.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29900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NOW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898647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Distributor ERPs are readable by API; models handle the ambiguous edge.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2825495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914400" y="364845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PIE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39" y="3557015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Deterministic, auditable, with AI confined to where it helps.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4400" y="3483863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914400" y="430682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PIE WINS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7639" y="4215383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pack asset compounds; the engine is manufacturer-agnostic.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14400" y="4142232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914400" y="496519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THIS GETS LARGE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77639" y="4873751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same engine crosses categories without new code.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14400" y="4800600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914400" y="5458968"/>
            <a:ext cx="10362895" cy="0"/>
          </a:xfrm>
          <a:prstGeom prst="line">
            <a:avLst/>
          </a:prstGeom>
          <a:ln w="13970">
            <a:solidFill>
              <a:srgbClr val="0E1116"/>
            </a:solidFill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